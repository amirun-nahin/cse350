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47"/>
  </p:notesMasterIdLst>
  <p:sldIdLst>
    <p:sldId id="256" r:id="rId2"/>
    <p:sldId id="278" r:id="rId3"/>
    <p:sldId id="279" r:id="rId4"/>
    <p:sldId id="283" r:id="rId5"/>
    <p:sldId id="280" r:id="rId6"/>
    <p:sldId id="281" r:id="rId7"/>
    <p:sldId id="284" r:id="rId8"/>
    <p:sldId id="282" r:id="rId9"/>
    <p:sldId id="285" r:id="rId10"/>
    <p:sldId id="286" r:id="rId11"/>
    <p:sldId id="287" r:id="rId12"/>
    <p:sldId id="302" r:id="rId13"/>
    <p:sldId id="303" r:id="rId14"/>
    <p:sldId id="304" r:id="rId15"/>
    <p:sldId id="305" r:id="rId16"/>
    <p:sldId id="306" r:id="rId17"/>
    <p:sldId id="307" r:id="rId18"/>
    <p:sldId id="308" r:id="rId19"/>
    <p:sldId id="309" r:id="rId20"/>
    <p:sldId id="310" r:id="rId21"/>
    <p:sldId id="311" r:id="rId22"/>
    <p:sldId id="312" r:id="rId23"/>
    <p:sldId id="313" r:id="rId24"/>
    <p:sldId id="326" r:id="rId25"/>
    <p:sldId id="334" r:id="rId26"/>
    <p:sldId id="327" r:id="rId27"/>
    <p:sldId id="328" r:id="rId28"/>
    <p:sldId id="329" r:id="rId29"/>
    <p:sldId id="335" r:id="rId30"/>
    <p:sldId id="330" r:id="rId31"/>
    <p:sldId id="331" r:id="rId32"/>
    <p:sldId id="332" r:id="rId33"/>
    <p:sldId id="333" r:id="rId34"/>
    <p:sldId id="314" r:id="rId35"/>
    <p:sldId id="318" r:id="rId36"/>
    <p:sldId id="319" r:id="rId37"/>
    <p:sldId id="315" r:id="rId38"/>
    <p:sldId id="316" r:id="rId39"/>
    <p:sldId id="317" r:id="rId40"/>
    <p:sldId id="320" r:id="rId41"/>
    <p:sldId id="321" r:id="rId42"/>
    <p:sldId id="322" r:id="rId43"/>
    <p:sldId id="324" r:id="rId44"/>
    <p:sldId id="325" r:id="rId45"/>
    <p:sldId id="323" r:id="rId4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8" roundtripDataSignature="AMtx7mheI/Gh8udpzYH683TQTOOwqcsdY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customschemas.google.com/relationships/presentationmetadata" Target="metadata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1A784C28-ED34-6345-BF66-3697E9118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A1ADA2FC-2628-44F2-5051-5596BB7174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81B6E419-8A84-E8B4-FA41-C18E2C136E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434716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DA198CBA-2BD6-8CD2-E2E5-0324EE847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146FB8CF-6F92-8AEC-EC7B-1E1667A204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A53A32AC-9898-09AB-72CF-D48F015E24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187655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3943FAA7-17A8-1B0F-3680-16BE192A6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DA2D8D62-99B2-92F6-4A08-0F5318FC59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9287D7A3-8F4F-962D-D55F-510706CF50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1407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AEC64CE9-8348-4CFD-4E54-EB499B9CB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BA5327F8-C39D-2579-498C-C5F2F98C29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7CAD233E-9C66-7E22-3F04-9C7F870F76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061177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3C734ACF-B13B-2BEF-722A-AD6AC20AF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00B5A501-58ED-B26E-239F-B4A4D5D37B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832F6F13-F8EA-E459-2B89-9AED5C757F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375765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5F7E3672-6042-E010-3B91-A989C0C84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C6C151EB-EF5C-E449-C06E-7AC6EDB513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62D3DAFB-C917-1807-5FB8-5C7C7F3199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133343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17C1C017-818D-8563-C0F7-064BC0756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129EC3A1-0525-C17F-3218-61541CFF0C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76534C15-5EA2-3A84-39C2-4706BFF828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207463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8E625926-4664-BC41-FFF2-EAA778460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9EC8B5F8-1FD8-6000-9C20-921A00D9CA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AC4C14F4-E51B-318B-4014-B9CE9562B6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560590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3BCD7330-301C-C499-10F6-4E411D69E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55B44F01-01A9-78F4-AB1B-A8682AD0BB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75FFF0C7-DCC8-4F16-0655-EAB99A4380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175605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1A670439-563A-CD90-E002-B56B43A59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FA3B9B52-A9EB-C41D-4FA1-976A430BA6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1BD80A6E-BF54-CA88-7154-15C0697AA1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749289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F137FECA-0B0A-41C6-B143-9DA9038F1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07C4FAD0-002F-3756-6D03-BCCA58E48F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6DE850B6-F35F-A349-53DD-4737EFA7619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27224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8722B5ED-4CBC-5753-8167-1583DC97C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3BD2A8DB-65D6-623E-BFC3-8165767DEE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A5BCC8EC-8CD7-8C41-038A-A9F095424D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526564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ABCBDBBC-5FA2-DA62-9DE5-7F07FB57D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2E71F2EB-4179-1151-9C6B-8489ED123E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7A8687A9-6958-DF3E-CAE3-2A756BEF03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102372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7E907F32-E775-CD72-63F6-9B7E8891C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3CC5B5B1-97E7-473C-52AC-53BD33F535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E94134B9-87F9-D1D1-F856-8AA7BCD03B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739728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8F0CA628-47EE-EB40-7036-33291C52E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8D24F849-6CBC-09E5-5CAA-DE5B2E6ECC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8E52F34A-1CD3-01DC-28D4-D4DC4A0709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6198400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DDD4AADC-FE00-8F94-4293-2FAD8AE96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635C801F-720A-A431-A4E1-9F4846503F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55137644-10C4-A020-C42E-1979583A15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9486034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3BD97269-4981-B6CD-C032-F2B469C85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39B0FE04-B5CE-24A5-6F59-797536BB55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786F3B2A-48C8-5843-B18F-E3B7E6936E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0810699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FC7579FD-20E1-4D2D-60DA-3C9396BFC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9C9A0809-5CDF-366D-6F20-8E6D4F3EB8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2907223A-9596-BD53-7686-B164FC66A6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774702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05EC2D4B-1ABB-ECCF-9991-039425C52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78CDC379-64C9-89A1-AA8B-0DF09EB48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6570BB85-74BE-08DC-2B08-565AD3407E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9247681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35000004-B5F8-BE17-889C-DA7D8A70D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C4EAAFBD-F7E2-396B-AFE1-47105E7374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692011FF-54E4-9074-A18A-C78CCF98A0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0723352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FA880F2D-BEE7-1B73-F338-C9E1D033E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EAB2CBF1-A814-16D7-78CD-0C8AC46E74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FC44140B-52CF-2D81-33DB-8344202256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6364087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058E5E02-04B9-D986-AE24-C293EF596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D649B06D-EAD9-0F9D-933D-9EAEA50A79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6F98E351-BA1E-10E2-F43B-EE474527C23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2717651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8D2DF480-8A30-A786-00B4-4F7E7B899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FDA599B5-0F4F-DB0A-AD47-5FE3BBDF22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6008C63A-B1C6-770E-0768-EB98348954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631516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F64269AD-D35D-9A03-43E8-C83DE6EFD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BBDA1942-07A2-23D0-B958-CE699BDBD7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6C78B3E5-94A6-F057-E78A-3697F464EE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9484696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E6A75852-4060-876C-13C1-F2BFBC9D9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CD1BF1E4-DCFE-41B1-1B1C-849B3B69E9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D641BD17-7437-BACF-37C1-6DBA62FDE3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9696366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89D539B1-B776-60B6-7ACF-D868CB36B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BB0FD5F1-ECAA-0903-5F0D-C5668AB040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69400369-AC28-8AE9-EB13-83AAC2FF8E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5458612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60679FB0-35E5-83BF-4E4D-537BE8D31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93BB53FD-AD2A-CA6C-5AC7-ADC8FAB6C9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4A1EC455-A77C-79EE-D04E-DC10F5C589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2885347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BA2C563E-C859-08B0-0E0E-E26510AF2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6A9DF9C4-152C-CD8D-77ED-B65F2E0EDD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BBEDBB59-C4B2-B2CF-2910-6D3264CE74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588121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E141DC3B-9468-AB23-D810-FB30D1D1A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E6BCE641-4FA2-3133-D3A4-E1EBE034CC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3EA2A716-138E-8818-41F5-7712FBE6ED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0863768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7CB3B237-84BD-B945-5A11-047F49D60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F1828326-9C3E-8472-DAAD-C0DACF0C48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61185FE6-0F2B-486C-CC07-CF6C484965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2295140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E6423817-B415-2DB3-2914-D238A21AF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1F69FCF0-07EC-20D6-EB14-1B38A5E4B5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DB8B2FB7-6833-76C8-8F37-98E9B0A121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035254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8F6633D1-4829-69F8-A123-73015C22D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F6E9E666-7F50-A492-C58F-B34EF907C2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04DFEC94-489A-E90B-0434-1E4C3B06C3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179971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858011F4-7722-4214-2DF0-13FEABBA2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96141699-77DF-2775-622F-0310E1E762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B303A8E6-D753-2926-F62A-A98B57387B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6439157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98478165-516A-415D-741B-7EA5D9ABF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69F7A3B6-5A13-4DEB-0355-F8BCFA4FBC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B8CD01E3-ED1F-57B7-9F24-5D9BAC7A19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8609837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8ABD761C-3525-EA88-F53B-735EC8CF5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407B6BC4-48A0-A1C4-2132-3DCC8D9DFA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1E6DEBFB-86A2-1DAA-2BD0-79260D6D14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6717810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8972BEA7-EEDB-7E94-4C43-1D4E0D286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A8F35FC8-C770-5234-2B9F-B1419A6E69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C720169A-9D00-BA7E-1280-77F737136E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8778442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D734BBB6-ACA6-B836-236C-9235684DC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4FA370C9-FB60-58B5-25FB-85E52BACD8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3C7A96B4-FB0B-6E2E-83EC-4309A26DB6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0193199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19202E13-2B38-31D2-AA91-FE6F29440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BD99BFBE-235E-D95C-B40C-94CE2F5BC5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1FAEA06E-D9CA-8694-9047-276A095F9D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4511283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B9377372-1C89-16BC-4F7F-5CFF3AC5C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4FFF1370-8C16-737F-CDC1-4D87C88567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B056E2EE-10A1-E6A5-5E0B-34F2F59244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6136119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24A6F855-4590-11FA-F37B-9A376BB26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769C2BCD-7E5E-4BCC-D323-89E12B9605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B7F8D0BF-96D0-0D67-2D54-E80C4B5782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2405444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3B3AC1FA-0EB4-2E47-AE87-7F34BE7C6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5AFC30B9-FE30-373C-AAC5-7F2E7622AC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351C88D0-7029-D553-18B0-294C04DE8F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7327974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D5D4C44B-AF6B-A0C5-B964-64F98F048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574599FE-CD18-1E77-C273-3274F25B3B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E78D22BA-F359-114F-DA1A-672E48E3BC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1186130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0CF49B8F-5269-714D-52C6-E2D2F8176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21237648-C729-EF2D-53B7-82DECCCEEF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81CC0BE5-EA15-8C75-92F7-75836A3E03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3243432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0C90DDD6-6721-D528-F0CF-5614B8804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6530D663-2C2A-D62B-4E29-1A6D84720E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F2D8000C-E839-F17B-FCC5-01A5DA17B2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125338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3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mailto:shomen.kundu@bracu.ac.bd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4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png"/><Relationship Id="rId4" Type="http://schemas.openxmlformats.org/officeDocument/2006/relationships/image" Target="../media/image5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png"/><Relationship Id="rId4" Type="http://schemas.openxmlformats.org/officeDocument/2006/relationships/image" Target="../media/image5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3.png"/><Relationship Id="rId4" Type="http://schemas.openxmlformats.org/officeDocument/2006/relationships/image" Target="../media/image38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4.png"/><Relationship Id="rId4" Type="http://schemas.openxmlformats.org/officeDocument/2006/relationships/image" Target="../media/image40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5.png"/><Relationship Id="rId4" Type="http://schemas.openxmlformats.org/officeDocument/2006/relationships/image" Target="../media/image42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44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47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0.png"/><Relationship Id="rId4" Type="http://schemas.openxmlformats.org/officeDocument/2006/relationships/image" Target="../media/image50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1.png"/><Relationship Id="rId4" Type="http://schemas.openxmlformats.org/officeDocument/2006/relationships/image" Target="../media/image52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2.png"/><Relationship Id="rId4" Type="http://schemas.openxmlformats.org/officeDocument/2006/relationships/image" Target="../media/image54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1489586" y="226142"/>
            <a:ext cx="10255374" cy="2300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CSE 350</a:t>
            </a:r>
            <a:br>
              <a:rPr lang="en-US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4900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Digital Electronics and Pulse Techniques</a:t>
            </a:r>
            <a:br>
              <a:rPr lang="en-US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dirty="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" name="Google Shape;85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pic>
        <p:nvPicPr>
          <p:cNvPr id="86" name="Google Shape;86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>
            <a:spLocks noGrp="1"/>
          </p:cNvSpPr>
          <p:nvPr>
            <p:ph type="ftr" idx="11"/>
          </p:nvPr>
        </p:nvSpPr>
        <p:spPr>
          <a:xfrm>
            <a:off x="3812458" y="637089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 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6926825" y="5456700"/>
            <a:ext cx="4980695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143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Mail: </a:t>
            </a:r>
            <a:r>
              <a:rPr lang="en-US" sz="2000" b="0" i="0" u="sng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shomen.kundu@bracu.ac.bd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Desk: 4N148</a:t>
            </a:r>
            <a:endParaRPr dirty="0"/>
          </a:p>
        </p:txBody>
      </p:sp>
      <p:sp>
        <p:nvSpPr>
          <p:cNvPr id="89" name="Google Shape;89;p1"/>
          <p:cNvSpPr txBox="1"/>
          <p:nvPr/>
        </p:nvSpPr>
        <p:spPr>
          <a:xfrm>
            <a:off x="3008670" y="2354773"/>
            <a:ext cx="5862614" cy="83095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2400" b="1" i="0" dirty="0"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NMOS NOT and NOR without load</a:t>
            </a:r>
            <a:br>
              <a:rPr lang="en-US" sz="2400" b="1" i="0" dirty="0">
                <a:solidFill>
                  <a:schemeClr val="accent1"/>
                </a:solidFill>
                <a:effectLst/>
                <a:latin typeface="Arial" panose="020B0604020202020204" pitchFamily="34" charset="0"/>
              </a:rPr>
            </a:br>
            <a:r>
              <a:rPr lang="en-US" sz="2400" b="1" i="0" dirty="0"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CMOS Logic Circuit Design </a:t>
            </a:r>
            <a:endParaRPr lang="en-US" sz="1800" dirty="0">
              <a:solidFill>
                <a:schemeClr val="accent1"/>
              </a:solidFill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1115959" y="5558167"/>
            <a:ext cx="555031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143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Course Instructor</a:t>
            </a:r>
            <a:r>
              <a:rPr lang="en-US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Shomen Kundu (SDU)</a:t>
            </a:r>
            <a:endParaRPr/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10052ADA-7649-0BAA-A726-CFC4B3E55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103E5250-632F-C84F-F888-0D9B51CB3B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b="1" dirty="0">
                <a:solidFill>
                  <a:schemeClr val="accent1"/>
                </a:solidFill>
              </a:rPr>
              <a:t>MOS Logic family</a:t>
            </a:r>
            <a:endParaRPr b="1"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E8A90BB8-B40F-CB4F-EAE2-78B7099FED5B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740B5663-3C42-E414-BFE5-A69529824F4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BD209711-03F2-A200-124D-36C23E1095B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36">
            <a:extLst>
              <a:ext uri="{FF2B5EF4-FFF2-40B4-BE49-F238E27FC236}">
                <a16:creationId xmlns:a16="http://schemas.microsoft.com/office/drawing/2014/main" id="{F60FFBCC-CFF4-C997-D592-4128102AA8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307" y="1334585"/>
            <a:ext cx="10389747" cy="46032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75630"/>
              <a:buNone/>
            </a:pPr>
            <a:r>
              <a:rPr lang="en-US" b="1" dirty="0">
                <a:solidFill>
                  <a:schemeClr val="accent1"/>
                </a:solidFill>
              </a:rPr>
              <a:t>Unipolar logic family: </a:t>
            </a:r>
            <a:r>
              <a:rPr lang="en-US" dirty="0"/>
              <a:t>current conduction is done by one type of charge carriers.</a:t>
            </a:r>
          </a:p>
          <a:p>
            <a:pPr marL="11430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75630"/>
              <a:buNone/>
            </a:pPr>
            <a:r>
              <a:rPr lang="en-US" dirty="0"/>
              <a:t>e.g. electron or hole </a:t>
            </a:r>
          </a:p>
          <a:p>
            <a:pPr marL="11430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7563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78723285"/>
      </p:ext>
    </p:extLst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4D3A70BF-C218-7939-BFC9-13A3539BE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056DAA48-5DF4-BB4A-8EE9-D2AEB4875D6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Basic Internal Structure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97FB7C73-301E-8F2D-409D-28C61BABAB3A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B3F08FC0-2C50-B93D-55B2-AA7832CAF43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5104CB3A-887D-AB3F-35E5-5F85275072B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36">
            <a:extLst>
              <a:ext uri="{FF2B5EF4-FFF2-40B4-BE49-F238E27FC236}">
                <a16:creationId xmlns:a16="http://schemas.microsoft.com/office/drawing/2014/main" id="{945D18E4-3D65-4EB0-0C2F-1C5E7F1CF1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99816" y="1163070"/>
            <a:ext cx="11605016" cy="745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11430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75630"/>
              <a:buNone/>
            </a:pPr>
            <a:r>
              <a:rPr lang="en-US" dirty="0">
                <a:solidFill>
                  <a:schemeClr val="tx1"/>
                </a:solidFill>
              </a:rPr>
              <a:t>If  some MOSFET is fabricated identically then source and body might be shorted.</a:t>
            </a:r>
          </a:p>
          <a:p>
            <a:pPr marL="11430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75630"/>
              <a:buNone/>
            </a:pP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C2E3A2-89B4-7517-D0BB-084954883F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7255" y="2271253"/>
            <a:ext cx="6287577" cy="37353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8C32D72-4A6D-6C9B-18B8-E8E6C150E0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494" y="2525716"/>
            <a:ext cx="5860240" cy="3570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465641"/>
      </p:ext>
    </p:extLst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46D932D2-E3A8-D974-3BF7-4642818AF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3BD983D9-997B-0844-FEC7-D1E02E6337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Circuit Symbol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12E96A2F-B27D-5B3E-8A54-93D9D30F7A60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134BDC33-2412-E689-A28D-67AD1DD393D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20C5BF8C-416E-7FE5-1896-5365F693817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36">
            <a:extLst>
              <a:ext uri="{FF2B5EF4-FFF2-40B4-BE49-F238E27FC236}">
                <a16:creationId xmlns:a16="http://schemas.microsoft.com/office/drawing/2014/main" id="{7CB91BB9-EAE2-1820-055D-1C7C9C91EE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544926" y="4763273"/>
            <a:ext cx="2534004" cy="696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75630"/>
              <a:buNone/>
            </a:pPr>
            <a:r>
              <a:rPr lang="en-US" dirty="0"/>
              <a:t>N-MOS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C47CA6F-65B2-E6DA-DA89-1DE06A4270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8315" y="1708924"/>
            <a:ext cx="2534004" cy="27721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3F213DE-FB8B-499F-DD09-4C2808379F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31695" y="1742343"/>
            <a:ext cx="2534004" cy="3020930"/>
          </a:xfrm>
          <a:prstGeom prst="rect">
            <a:avLst/>
          </a:prstGeom>
        </p:spPr>
      </p:pic>
      <p:sp>
        <p:nvSpPr>
          <p:cNvPr id="10" name="Google Shape;179;p36">
            <a:extLst>
              <a:ext uri="{FF2B5EF4-FFF2-40B4-BE49-F238E27FC236}">
                <a16:creationId xmlns:a16="http://schemas.microsoft.com/office/drawing/2014/main" id="{A39896B4-BC15-ED5B-4B9F-9AEEAF0427DD}"/>
              </a:ext>
            </a:extLst>
          </p:cNvPr>
          <p:cNvSpPr txBox="1">
            <a:spLocks/>
          </p:cNvSpPr>
          <p:nvPr/>
        </p:nvSpPr>
        <p:spPr>
          <a:xfrm>
            <a:off x="7642952" y="4931314"/>
            <a:ext cx="2534004" cy="696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14300" indent="0" algn="just">
              <a:buSzPct val="75630"/>
              <a:buFont typeface="Arial"/>
              <a:buNone/>
            </a:pPr>
            <a:r>
              <a:rPr lang="en-US" dirty="0"/>
              <a:t>p-MOS</a:t>
            </a:r>
          </a:p>
        </p:txBody>
      </p:sp>
    </p:spTree>
    <p:extLst>
      <p:ext uri="{BB962C8B-B14F-4D97-AF65-F5344CB8AC3E}">
        <p14:creationId xmlns:p14="http://schemas.microsoft.com/office/powerpoint/2010/main" val="4159366206"/>
      </p:ext>
    </p:extLst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CCB6082C-F904-610F-C573-CA7D1466F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982CCA99-1B7F-6768-38BF-F4494FEC11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Basic Operation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CC3068A1-3BED-D04C-FB80-39D08886EB3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90F2F88E-7F32-D2E9-A99E-E67E02881CF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AE0903BF-09DE-73DF-B35E-C1111576270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2F1EB9F5-2347-2B95-E939-353CD3DF6200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307" y="1334585"/>
                <a:ext cx="10389747" cy="46032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If we apply voltage in the gate terminal. </a:t>
                </a: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Accumulation: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is less than zero, holes inside p-type semiconductor might accumulate underneath the oxide layer.</a:t>
                </a: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r>
                  <a:rPr lang="en-US" dirty="0" err="1">
                    <a:solidFill>
                      <a:schemeClr val="tx1"/>
                    </a:solidFill>
                  </a:rPr>
                  <a:t>Deplation</a:t>
                </a:r>
                <a:r>
                  <a:rPr lang="en-US" dirty="0">
                    <a:solidFill>
                      <a:schemeClr val="tx1"/>
                    </a:solidFill>
                  </a:rPr>
                  <a:t>: If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0&lt;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𝑇𝑁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then </a:t>
                </a:r>
                <a:r>
                  <a:rPr lang="en-US" dirty="0" err="1">
                    <a:solidFill>
                      <a:schemeClr val="tx1"/>
                    </a:solidFill>
                  </a:rPr>
                  <a:t>deplation</a:t>
                </a:r>
                <a:r>
                  <a:rPr lang="en-US" dirty="0">
                    <a:solidFill>
                      <a:schemeClr val="tx1"/>
                    </a:solidFill>
                  </a:rPr>
                  <a:t> layer forms beneath the oxide layer.</a:t>
                </a: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Inversion: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𝑇𝑁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 then an inversion layer would emerge under the oxide layer.</a:t>
                </a: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2F1EB9F5-2347-2B95-E939-353CD3DF6200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7" y="1334585"/>
                <a:ext cx="10389747" cy="4603227"/>
              </a:xfrm>
              <a:prstGeom prst="rect">
                <a:avLst/>
              </a:prstGeom>
              <a:blipFill>
                <a:blip r:embed="rId4"/>
                <a:stretch>
                  <a:fillRect l="-59" r="-117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59837841"/>
      </p:ext>
    </p:extLst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B7D77ECC-64F2-3080-01C8-7C46899B7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8E54B5FA-C091-2C57-7239-1957DE9EF6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Basic Operation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9D4B572A-6AD2-8060-BE48-9FE0B6478C52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3C489BCB-60C5-4C8E-4013-A7F2FBFEFD9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4C955AE6-51BF-5723-8FAB-5D5B1345B3E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58C91E62-BB25-E3B5-7320-E2103B3F46A7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307" y="1334585"/>
                <a:ext cx="10389747" cy="46032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Now if we apply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𝐺𝑆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𝑇𝑁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 a channel forms.</a:t>
                </a: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58C91E62-BB25-E3B5-7320-E2103B3F46A7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7" y="1334585"/>
                <a:ext cx="10389747" cy="4603227"/>
              </a:xfrm>
              <a:prstGeom prst="rect">
                <a:avLst/>
              </a:prstGeom>
              <a:blipFill>
                <a:blip r:embed="rId4"/>
                <a:stretch>
                  <a:fillRect l="-5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37EEF3B-F835-CE30-2A40-6006BBAA0943}"/>
                  </a:ext>
                </a:extLst>
              </p:cNvPr>
              <p:cNvSpPr txBox="1"/>
              <p:nvPr/>
            </p:nvSpPr>
            <p:spPr>
              <a:xfrm>
                <a:off x="3083828" y="5726592"/>
                <a:ext cx="176980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NMOS for small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𝐷𝑆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37EEF3B-F835-CE30-2A40-6006BBAA09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3828" y="5726592"/>
                <a:ext cx="1769806" cy="307777"/>
              </a:xfrm>
              <a:prstGeom prst="rect">
                <a:avLst/>
              </a:prstGeom>
              <a:blipFill>
                <a:blip r:embed="rId5"/>
                <a:stretch>
                  <a:fillRect l="-1034" t="-1961" b="-196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E768D92-0F28-47A9-0C07-4325CA7B113E}"/>
                  </a:ext>
                </a:extLst>
              </p:cNvPr>
              <p:cNvSpPr txBox="1"/>
              <p:nvPr/>
            </p:nvSpPr>
            <p:spPr>
              <a:xfrm>
                <a:off x="7591918" y="5832202"/>
                <a:ext cx="245665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NMOS for increased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𝐷𝑆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E768D92-0F28-47A9-0C07-4325CA7B11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1918" y="5832202"/>
                <a:ext cx="2456650" cy="307777"/>
              </a:xfrm>
              <a:prstGeom prst="rect">
                <a:avLst/>
              </a:prstGeom>
              <a:blipFill>
                <a:blip r:embed="rId6"/>
                <a:stretch>
                  <a:fillRect l="-744" t="-400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F4F1FC9B-D38A-448C-DC74-69C253E2902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7594" y="2329428"/>
            <a:ext cx="4706746" cy="289808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AAF5E0F-6398-B34B-0B39-31C525BDEEF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52496" y="2401740"/>
            <a:ext cx="5354197" cy="3001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749472"/>
      </p:ext>
    </p:extLst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69340797-82B2-AA2E-1C81-E0BCEF4BA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16653E78-07AF-0AE9-2AD3-2E1DE1A477E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Basic Operation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692F0A67-DE41-BC35-E996-C53E284E2DB0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42590181-F537-8993-2238-01E1524E5B2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852BAB81-9A99-EF66-AFB6-DFCAB97380D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C1D4D629-9FDE-AFDF-DF1B-DE32B129D00A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307" y="1334585"/>
                <a:ext cx="10389747" cy="46032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Now if we apply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𝐺𝑆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𝑇𝑁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 a channel forms.</a:t>
                </a: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C1D4D629-9FDE-AFDF-DF1B-DE32B129D00A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7" y="1334585"/>
                <a:ext cx="10389747" cy="4603227"/>
              </a:xfrm>
              <a:prstGeom prst="rect">
                <a:avLst/>
              </a:prstGeom>
              <a:blipFill>
                <a:blip r:embed="rId4"/>
                <a:stretch>
                  <a:fillRect l="-5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94DEB52-320D-4E97-FE53-CC62C1789A51}"/>
                  </a:ext>
                </a:extLst>
              </p:cNvPr>
              <p:cNvSpPr txBox="1"/>
              <p:nvPr/>
            </p:nvSpPr>
            <p:spPr>
              <a:xfrm>
                <a:off x="1844963" y="5658314"/>
                <a:ext cx="334646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Edge of Saturation,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𝐷𝑆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𝐺𝑆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𝑇𝑁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94DEB52-320D-4E97-FE53-CC62C1789A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4963" y="5658314"/>
                <a:ext cx="3346469" cy="307777"/>
              </a:xfrm>
              <a:prstGeom prst="rect">
                <a:avLst/>
              </a:prstGeom>
              <a:blipFill>
                <a:blip r:embed="rId5"/>
                <a:stretch>
                  <a:fillRect l="-546" t="-3922" b="-196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87921E72-9EA5-3DAF-3E3A-D32BFC1CB7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8916" y="2231923"/>
            <a:ext cx="5627163" cy="296953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368798C-3038-8317-EFDE-2428BB2DF7E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91290" y="2231923"/>
            <a:ext cx="5795586" cy="318174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D16235B-B6F8-251D-3D5F-D772C2F73717}"/>
                  </a:ext>
                </a:extLst>
              </p:cNvPr>
              <p:cNvSpPr txBox="1"/>
              <p:nvPr/>
            </p:nvSpPr>
            <p:spPr>
              <a:xfrm>
                <a:off x="7621679" y="5754915"/>
                <a:ext cx="288310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Saturation,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𝐷𝑆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𝐺𝑆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𝑇𝑁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D16235B-B6F8-251D-3D5F-D772C2F737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1679" y="5754915"/>
                <a:ext cx="2883103" cy="307777"/>
              </a:xfrm>
              <a:prstGeom prst="rect">
                <a:avLst/>
              </a:prstGeom>
              <a:blipFill>
                <a:blip r:embed="rId8"/>
                <a:stretch>
                  <a:fillRect l="-634" t="-3922" b="-196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91490844"/>
      </p:ext>
    </p:extLst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795B7BFA-DCA7-C8AC-44C3-5B3FB1397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EA7DC4E0-4E06-877C-C9B6-8A4F22330A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Operating modes of MOSFET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02699C6E-3F32-0A03-6518-5F38203C2E92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D5755A0D-04C0-42BB-50AD-5BA2101FABA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1F739DAF-C76D-1ECA-0D57-DF2BD236264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7A3DBB4C-7866-D9D1-8405-8310E1FAEC5D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1270861" y="1334585"/>
                <a:ext cx="9804194" cy="51582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 lnSpcReduction="10000"/>
              </a:bodyPr>
              <a:lstStyle/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Operating modes of n-MOSFET,</a:t>
                </a:r>
              </a:p>
              <a:p>
                <a:pPr algn="just">
                  <a:buSzPct val="75630"/>
                  <a:buFont typeface="Wingdings" panose="05000000000000000000" pitchFamily="2" charset="2"/>
                  <a:buChar char="Ø"/>
                </a:pPr>
                <a:r>
                  <a:rPr lang="en-US" dirty="0">
                    <a:solidFill>
                      <a:schemeClr val="tx1"/>
                    </a:solidFill>
                  </a:rPr>
                  <a:t>Cut-off</a:t>
                </a:r>
              </a:p>
              <a:p>
                <a:pPr marL="114300" indent="0" algn="just">
                  <a:buSzPct val="75630"/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𝐺𝑆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𝑇𝑁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algn="just">
                  <a:buSzPct val="75630"/>
                  <a:buFont typeface="Wingdings" panose="05000000000000000000" pitchFamily="2" charset="2"/>
                  <a:buChar char="Ø"/>
                </a:pPr>
                <a:r>
                  <a:rPr lang="en-US" dirty="0">
                    <a:solidFill>
                      <a:schemeClr val="tx1"/>
                    </a:solidFill>
                  </a:rPr>
                  <a:t>Triode/Linear</a:t>
                </a:r>
              </a:p>
              <a:p>
                <a:pPr marL="114300" indent="0" algn="just">
                  <a:buSzPct val="75630"/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 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𝐺𝑆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𝑇𝑁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𝐷𝑆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&lt; 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𝐺𝑆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𝑇𝑁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114300" indent="0" algn="just">
                  <a:buSzPct val="75630"/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( 2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𝐺𝑆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𝑇𝑁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𝐷𝑠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𝐷𝑆</m:t>
                        </m:r>
                      </m:sub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baseline="30000" dirty="0">
                    <a:solidFill>
                      <a:schemeClr val="tx1"/>
                    </a:solidFill>
                  </a:rPr>
                  <a:t> </a:t>
                </a:r>
                <a:r>
                  <a:rPr lang="en-US" dirty="0">
                    <a:solidFill>
                      <a:schemeClr val="tx1"/>
                    </a:solidFill>
                  </a:rPr>
                  <a:t>)</a:t>
                </a:r>
              </a:p>
              <a:p>
                <a:pPr algn="just">
                  <a:buSzPct val="75630"/>
                  <a:buFont typeface="Wingdings" panose="05000000000000000000" pitchFamily="2" charset="2"/>
                  <a:buChar char="Ø"/>
                </a:pPr>
                <a:r>
                  <a:rPr lang="en-US" dirty="0">
                    <a:solidFill>
                      <a:schemeClr val="tx1"/>
                    </a:solidFill>
                  </a:rPr>
                  <a:t>Saturation</a:t>
                </a:r>
              </a:p>
              <a:p>
                <a:pPr marL="114300" indent="0" algn="just">
                  <a:buSzPct val="75630"/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𝐺𝑆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𝑇𝑁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𝐷𝑆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&gt; 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𝐺𝑆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𝑇𝑁</m:t>
                        </m:r>
                      </m:sub>
                    </m:sSub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114300" indent="0" algn="just">
                  <a:buSzPct val="75630"/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p>
                      <m:sSup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𝐺𝑆</m:t>
                                </m:r>
                              </m:sub>
                            </m:s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𝑇𝑁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114300" indent="0" algn="just">
                  <a:buSzPct val="75630"/>
                  <a:buNone/>
                </a:pPr>
                <a:r>
                  <a:rPr lang="en-US" b="1" dirty="0">
                    <a:solidFill>
                      <a:srgbClr val="FF0000"/>
                    </a:solidFill>
                  </a:rPr>
                  <a:t>Note: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𝑲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f>
                          <m:fPr>
                            <m:ctrlP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den>
                        </m:f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sSub>
                      <m:sSub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𝒐𝒙</m:t>
                        </m:r>
                      </m:sub>
                    </m:sSub>
                    <m:f>
                      <m:f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𝑾</m:t>
                        </m:r>
                      </m:num>
                      <m:den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𝑳</m:t>
                        </m:r>
                      </m:den>
                    </m:f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b="1" dirty="0">
                  <a:solidFill>
                    <a:srgbClr val="FF0000"/>
                  </a:solidFill>
                </a:endParaRPr>
              </a:p>
              <a:p>
                <a:pPr marL="114300" indent="0" algn="just">
                  <a:buSzPct val="75630"/>
                  <a:buNone/>
                </a:pPr>
                <a:endParaRPr lang="en-US" dirty="0">
                  <a:solidFill>
                    <a:schemeClr val="tx1"/>
                  </a:solidFill>
                </a:endParaRP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7A3DBB4C-7866-D9D1-8405-8310E1FAEC5D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270861" y="1334585"/>
                <a:ext cx="9804194" cy="5158290"/>
              </a:xfrm>
              <a:prstGeom prst="rect">
                <a:avLst/>
              </a:prstGeom>
              <a:blipFill>
                <a:blip r:embed="rId4"/>
                <a:stretch>
                  <a:fillRect l="-62" t="-23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2623533"/>
      </p:ext>
    </p:extLst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32865415-70BC-611A-F8E1-22D966866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8754C344-0D13-AB97-BDB2-A5401C266AF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N-MOS Logic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5227893A-B84B-68E7-47B7-9670D81417B0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E4955519-B680-3E3F-DE51-5CB624FC6F3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EEAE6B5E-CBE9-0864-ED6F-CD7BFB5EC94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36">
            <a:extLst>
              <a:ext uri="{FF2B5EF4-FFF2-40B4-BE49-F238E27FC236}">
                <a16:creationId xmlns:a16="http://schemas.microsoft.com/office/drawing/2014/main" id="{4507E837-5654-FE09-2252-559FDDC8D1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307" y="1334585"/>
            <a:ext cx="10389747" cy="46032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75630"/>
              <a:buNone/>
            </a:pPr>
            <a:r>
              <a:rPr lang="en-US" b="1" dirty="0">
                <a:solidFill>
                  <a:schemeClr val="tx1"/>
                </a:solidFill>
              </a:rPr>
              <a:t>Pull up network: </a:t>
            </a:r>
            <a:r>
              <a:rPr lang="en-US" dirty="0">
                <a:solidFill>
                  <a:schemeClr val="tx1"/>
                </a:solidFill>
              </a:rPr>
              <a:t>High resistance </a:t>
            </a:r>
          </a:p>
          <a:p>
            <a:pPr marL="11430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75630"/>
              <a:buNone/>
            </a:pPr>
            <a:r>
              <a:rPr lang="en-US" b="1" dirty="0">
                <a:solidFill>
                  <a:schemeClr val="tx1"/>
                </a:solidFill>
              </a:rPr>
              <a:t>Pull down network: </a:t>
            </a:r>
            <a:r>
              <a:rPr lang="en-US" dirty="0">
                <a:solidFill>
                  <a:schemeClr val="tx1"/>
                </a:solidFill>
              </a:rPr>
              <a:t>n-MOS</a:t>
            </a:r>
          </a:p>
          <a:p>
            <a:pPr marL="11430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75630"/>
              <a:buNone/>
            </a:pPr>
            <a:r>
              <a:rPr lang="en-US" b="1" dirty="0">
                <a:solidFill>
                  <a:schemeClr val="tx1"/>
                </a:solidFill>
              </a:rPr>
              <a:t>Logic design techniques:</a:t>
            </a:r>
          </a:p>
          <a:p>
            <a:pPr algn="just">
              <a:buSzPct val="75630"/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Series n-MOS indicates AND</a:t>
            </a:r>
          </a:p>
          <a:p>
            <a:pPr algn="just">
              <a:buSzPct val="75630"/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Parallel n-MOS indicates OR</a:t>
            </a:r>
          </a:p>
          <a:p>
            <a:pPr algn="just">
              <a:buSzPct val="75630"/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Overall n-MOS logic is inverted</a:t>
            </a:r>
          </a:p>
          <a:p>
            <a:pPr marL="11430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75630"/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1392603"/>
      </p:ext>
    </p:extLst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75DD0816-679B-82C9-1A9E-270D84820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B7AEC754-6881-4F41-050A-9213CA2D38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N-MOS Logic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2AE2750B-BC38-E1A9-20F9-0C4F5C3EF2D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383F7208-9F21-A61B-D590-0794EC42BA1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6F592E89-1158-1DDB-DADE-455C05F47DF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62BBD57-C74F-A2D7-8D68-CAE3486FA1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6676" y="969408"/>
            <a:ext cx="9135750" cy="5077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003837"/>
      </p:ext>
    </p:extLst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B6037A9C-E879-2C16-85B2-44BD102FD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9836E2F8-84FE-2C74-DC77-88F97321367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N-MOS NOT gate/Inverter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A236F14D-E7CC-5A9F-0AA6-388FC2105387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D88CA80E-6565-B7D8-0B52-8CB4074CE67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748889E8-4837-9F28-9AAC-B831B059414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8669B68D-56F2-2E20-5194-D36ADB6D39F4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306" y="1334585"/>
                <a:ext cx="7925293" cy="46032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14300" lvl="0" indent="0" algn="just">
                  <a:buSzPct val="75630"/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Find the output of the inverter for the input voltage 5 V and 1.5 V. Given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𝑇𝑁</m:t>
                        </m:r>
                      </m:sub>
                    </m:sSub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=0.5 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=20 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en-US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114300" lvl="0" indent="0" algn="just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𝐷𝐷</m:t>
                          </m:r>
                        </m:sub>
                      </m:sSub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=5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𝑜𝑥</m:t>
                          </m:r>
                        </m:sub>
                      </m:sSub>
                      <m:f>
                        <m:f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num>
                        <m:den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𝑚𝐴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sSup>
                        <m:sSup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8669B68D-56F2-2E20-5194-D36ADB6D39F4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6" y="1334585"/>
                <a:ext cx="7925293" cy="4603227"/>
              </a:xfrm>
              <a:prstGeom prst="rect">
                <a:avLst/>
              </a:prstGeom>
              <a:blipFill>
                <a:blip r:embed="rId4"/>
                <a:stretch>
                  <a:fillRect l="-77" r="-161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409592E6-E319-DA74-40D9-6F2FFC8C2C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1951" y="1276049"/>
            <a:ext cx="3238952" cy="4305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89296"/>
      </p:ext>
    </p:extLst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A0068D6D-0F13-8931-0EC7-A90ED7EA7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E450AA14-B30D-9BF5-3C10-9ECBD52002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N-MOS NOT gate/Inverter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8086BA58-8C28-EB72-0E16-D5B1D5E410B5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B152CEA5-F93B-88C2-547F-337A6C45B03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FB516353-8182-52AF-11FE-BF8594C75FC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52784A32-AA9B-E5C2-2905-0D5D5EE77C61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307" y="1334585"/>
                <a:ext cx="8586512" cy="48597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=5 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en-US" b="0" dirty="0">
                  <a:solidFill>
                    <a:schemeClr val="tx1"/>
                  </a:solidFill>
                </a:endParaRP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𝐺𝑆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=5 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𝑇𝑁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MOSFET M1 is in Saturation / Triode region. </a:t>
                </a: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Assumption: Triode mode</a:t>
                </a: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2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𝐺𝑆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𝑇𝑁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𝐷𝑆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𝐷𝑆</m:t>
                              </m:r>
                            </m:sub>
                            <m:sup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tx1"/>
                  </a:solidFill>
                </a:endParaRP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=0.3 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2 ∗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5 −0.5</m:t>
                              </m:r>
                            </m:e>
                          </m:d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−</m:t>
                          </m:r>
                          <m:sSubSup>
                            <m:sSubSup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  <m:sup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r>
                  <a:rPr lang="en-US" b="0" dirty="0">
                    <a:solidFill>
                      <a:schemeClr val="tx1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=0.3 (9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−</m:t>
                    </m:r>
                    <m:sSubSup>
                      <m:sSubSup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0" dirty="0">
                  <a:solidFill>
                    <a:schemeClr val="tx1"/>
                  </a:solidFill>
                </a:endParaRP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5−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US" b="0" dirty="0">
                  <a:solidFill>
                    <a:schemeClr val="tx1"/>
                  </a:solidFill>
                </a:endParaRP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52784A32-AA9B-E5C2-2905-0D5D5EE77C61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7" y="1334585"/>
                <a:ext cx="8586512" cy="4859737"/>
              </a:xfrm>
              <a:prstGeom prst="rect">
                <a:avLst/>
              </a:prstGeom>
              <a:blipFill>
                <a:blip r:embed="rId4"/>
                <a:stretch>
                  <a:fillRect l="-7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BB5FC4F6-8BDD-FBB5-EFEA-E7D0F147C2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7864" y="1334585"/>
            <a:ext cx="3468228" cy="3797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97978"/>
      </p:ext>
    </p:extLst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3DFF4290-B3E3-FBA2-F3DC-079B9B39F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8BC7FD7A-F53B-86A3-6FBF-5258534AAF0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N-MOS NOT gate/Inverter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4CDE5EAE-5213-8A75-448C-4A14DF3AF91B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C4AA944C-3F72-2AE2-C3F1-FDD84742034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2443BEA3-F7D2-3F4A-CE29-2906DC1C25F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7F4A11A7-70F2-6658-D975-B57E7913E07F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307" y="1334585"/>
                <a:ext cx="8576680" cy="50217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 lnSpcReduction="10000"/>
              </a:bodyPr>
              <a:lstStyle/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=0.3 (9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sSubSup>
                        <m:sSub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0" dirty="0">
                  <a:solidFill>
                    <a:schemeClr val="tx1"/>
                  </a:solidFill>
                </a:endParaRP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5−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US" b="0" dirty="0">
                  <a:solidFill>
                    <a:schemeClr val="tx1"/>
                  </a:solidFill>
                </a:endParaRP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So, we can write,</a:t>
                </a:r>
              </a:p>
              <a:p>
                <a:pPr marL="114300" indent="0" algn="just">
                  <a:buSzPct val="75630"/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0.3 </m:t>
                    </m:r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−</m:t>
                        </m:r>
                        <m:sSubSup>
                          <m:sSubSup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  <m:sup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5−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den>
                    </m:f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114300" indent="0" algn="just">
                  <a:buSzPct val="75630"/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Solving using calculator,  </a:t>
                </a:r>
              </a:p>
              <a:p>
                <a:pPr marL="114300" indent="0" algn="just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=9.074 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0.092 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114300" indent="0" algn="just">
                  <a:buSzPct val="75630"/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Acceptable value,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=0.092 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114300" indent="0" algn="just">
                  <a:buSzPct val="75630"/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Verification:</a:t>
                </a:r>
              </a:p>
              <a:p>
                <a:pPr marL="114300" indent="0" algn="just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𝐷𝑆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=0.092 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𝐺𝑆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𝑇𝑁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=4.5 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b="0" dirty="0">
                  <a:solidFill>
                    <a:schemeClr val="tx1"/>
                  </a:solidFill>
                </a:endParaRPr>
              </a:p>
              <a:p>
                <a:pPr marL="114300" indent="0" algn="just">
                  <a:buSzPct val="75630"/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𝐷𝑆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𝐺𝑆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𝑇𝑁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 Assumption correct.</a:t>
                </a:r>
              </a:p>
              <a:p>
                <a:pPr marL="114300" indent="0" algn="just">
                  <a:buSzPct val="75630"/>
                  <a:buNone/>
                </a:pPr>
                <a:endParaRPr lang="en-US" dirty="0">
                  <a:solidFill>
                    <a:schemeClr val="tx1"/>
                  </a:solidFill>
                </a:endParaRP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endParaRPr lang="en-US" b="0" dirty="0">
                  <a:solidFill>
                    <a:schemeClr val="tx1"/>
                  </a:solidFill>
                </a:endParaRP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7F4A11A7-70F2-6658-D975-B57E7913E07F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7" y="1334585"/>
                <a:ext cx="8576680" cy="5021765"/>
              </a:xfrm>
              <a:prstGeom prst="rect">
                <a:avLst/>
              </a:prstGeom>
              <a:blipFill>
                <a:blip r:embed="rId4"/>
                <a:stretch>
                  <a:fillRect l="-71" b="-182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769109BC-3474-7909-AB9C-46D87A013D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0600" y="1334585"/>
            <a:ext cx="3468228" cy="3797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393344"/>
      </p:ext>
    </p:extLst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B477E9EE-1165-8281-F080-76C799605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8CECD395-7631-CB82-0009-317CB138AF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N-MOS NOT gate/Inverter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3B480C17-8E3A-F5BB-403C-728D9EFEFECF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3AC19C35-2695-EECD-94AA-2A6EB167969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3411FB40-0315-D51F-2842-4861C3F7DEB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5BBF8C5F-A784-9D22-FB40-83E6B9A30088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307" y="1334585"/>
                <a:ext cx="8586512" cy="48597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=1.5 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en-US" b="0" dirty="0">
                  <a:solidFill>
                    <a:schemeClr val="tx1"/>
                  </a:solidFill>
                </a:endParaRP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𝐺𝑆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=1.5 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𝑇𝑁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MOSFET M1 is in Saturation / Triode region. </a:t>
                </a: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Assumption: Saturation mode</a:t>
                </a: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𝐺𝑆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𝑇𝑁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b="0" dirty="0">
                  <a:solidFill>
                    <a:schemeClr val="tx1"/>
                  </a:solidFill>
                </a:endParaRP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endParaRPr lang="en-US" b="0" dirty="0">
                  <a:solidFill>
                    <a:schemeClr val="tx1"/>
                  </a:solidFill>
                </a:endParaRP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=0.3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1.5−0.5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endParaRPr lang="en-US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r>
                  <a:rPr lang="en-US" b="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5−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den>
                    </m:f>
                  </m:oMath>
                </a14:m>
                <a:endParaRPr lang="en-US" b="0" dirty="0">
                  <a:solidFill>
                    <a:schemeClr val="tx1"/>
                  </a:solidFill>
                </a:endParaRP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5BBF8C5F-A784-9D22-FB40-83E6B9A30088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7" y="1334585"/>
                <a:ext cx="8586512" cy="4859737"/>
              </a:xfrm>
              <a:prstGeom prst="rect">
                <a:avLst/>
              </a:prstGeom>
              <a:blipFill>
                <a:blip r:embed="rId4"/>
                <a:stretch>
                  <a:fillRect l="-7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43C019DD-58EC-ED25-A166-9810AA1CB9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7864" y="1334585"/>
            <a:ext cx="3468228" cy="3797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21155"/>
      </p:ext>
    </p:extLst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37B48CF9-0082-E34A-59F0-EF1F8ADC0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24B1372F-A3C7-B54F-9179-7BA90C72FA5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N-MOS NOT gate/Inverter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B2393E2A-9B09-3D07-BA11-419A3B63394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3CDAE43A-42A6-2781-E3CA-615A0E19FAD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689CB0B4-6418-7FF2-EB15-D8A5116A2DC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26D18FEF-F7AE-8705-E348-5EBB9D5402AF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306" y="1334585"/>
                <a:ext cx="8672053" cy="510411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So, we can write,</a:t>
                </a:r>
              </a:p>
              <a:p>
                <a:pPr marL="114300" indent="0" algn="just">
                  <a:buSzPct val="75630"/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0.3 </m:t>
                    </m:r>
                    <m:sSup>
                      <m:sSup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1.5−0.5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5−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den>
                    </m:f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114300" indent="0" algn="just">
                  <a:buSzPct val="75630"/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Solving using calculator,  </a:t>
                </a:r>
              </a:p>
              <a:p>
                <a:pPr marL="114300" indent="0" algn="just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=−1 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114300" indent="0" algn="just">
                  <a:buSzPct val="75630"/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Verification:</a:t>
                </a:r>
              </a:p>
              <a:p>
                <a:pPr marL="114300" indent="0" algn="just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𝐷𝑆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=−1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𝐺𝑆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𝑇𝑁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 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b="0" dirty="0">
                  <a:solidFill>
                    <a:schemeClr val="tx1"/>
                  </a:solidFill>
                </a:endParaRPr>
              </a:p>
              <a:p>
                <a:pPr marL="114300" indent="0" algn="just">
                  <a:buSzPct val="75630"/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𝐷𝑆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𝐺𝑆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𝑇𝑁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 Assumption not correct.</a:t>
                </a:r>
              </a:p>
              <a:p>
                <a:pPr marL="114300" indent="0" algn="just">
                  <a:buSzPct val="75630"/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We need to assume triode mode as saturation assumption is not correct.</a:t>
                </a:r>
              </a:p>
              <a:p>
                <a:pPr marL="114300" indent="0" algn="just">
                  <a:buSzPct val="75630"/>
                  <a:buNone/>
                </a:pPr>
                <a:endParaRPr lang="en-US" dirty="0">
                  <a:solidFill>
                    <a:schemeClr val="tx1"/>
                  </a:solidFill>
                </a:endParaRP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endParaRPr lang="en-US" b="0" dirty="0">
                  <a:solidFill>
                    <a:schemeClr val="tx1"/>
                  </a:solidFill>
                </a:endParaRP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26D18FEF-F7AE-8705-E348-5EBB9D5402AF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6" y="1334585"/>
                <a:ext cx="8672053" cy="5104119"/>
              </a:xfrm>
              <a:prstGeom prst="rect">
                <a:avLst/>
              </a:prstGeom>
              <a:blipFill>
                <a:blip r:embed="rId4"/>
                <a:stretch>
                  <a:fillRect l="-70" r="-140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FC3B6EF5-4343-E3F5-7864-64D6C89DCC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0600" y="1334585"/>
            <a:ext cx="3468228" cy="3797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480988"/>
      </p:ext>
    </p:extLst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52FD4B92-9F2E-196E-529F-F02993F2B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5E9785CC-776A-4CD9-70A5-6F63EAD9ABC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N-MOS NOT gate/Inverter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5EA520D3-0E0E-F065-6AD9-82198DCC2E38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7970DAB6-715D-3BC8-9F72-A9355A28D42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BA8185E3-F390-E5E1-698B-20C594A30C2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A8AEDCE7-2A08-273F-511D-738D894C2FC7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306" y="1334585"/>
                <a:ext cx="8672053" cy="510411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2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𝐺𝑆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𝑇𝑁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𝐷𝑆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𝐷𝑆</m:t>
                              </m:r>
                            </m:sub>
                            <m:sup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tx1"/>
                  </a:solidFill>
                </a:endParaRP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=0.3 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2 ∗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1.5 −0.5</m:t>
                              </m:r>
                            </m:e>
                          </m:d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−</m:t>
                          </m:r>
                          <m:sSubSup>
                            <m:sSubSup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  <m:sup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r>
                  <a:rPr lang="en-US" b="0" dirty="0">
                    <a:solidFill>
                      <a:schemeClr val="tx1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=0.3 (2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−</m:t>
                    </m:r>
                    <m:sSubSup>
                      <m:sSubSup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0" dirty="0">
                  <a:solidFill>
                    <a:schemeClr val="tx1"/>
                  </a:solidFill>
                </a:endParaRP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5−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So, we can write,</a:t>
                </a:r>
              </a:p>
              <a:p>
                <a:pPr marL="114300" indent="0" algn="just">
                  <a:buSzPct val="75630"/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0.3 </m:t>
                    </m:r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−</m:t>
                        </m:r>
                        <m:sSubSup>
                          <m:sSubSup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  <m:sup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5−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den>
                    </m:f>
                  </m:oMath>
                </a14:m>
                <a:endParaRPr lang="en-US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114300" indent="0" algn="just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⇒12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−6</m:t>
                      </m:r>
                      <m:sSubSup>
                        <m:sSub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=5−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Now Solve and verify </a:t>
                </a: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endParaRPr lang="en-US" b="0" dirty="0">
                  <a:solidFill>
                    <a:schemeClr val="tx1"/>
                  </a:solidFill>
                </a:endParaRP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A8AEDCE7-2A08-273F-511D-738D894C2FC7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6" y="1334585"/>
                <a:ext cx="8672053" cy="5104119"/>
              </a:xfrm>
              <a:prstGeom prst="rect">
                <a:avLst/>
              </a:prstGeom>
              <a:blipFill>
                <a:blip r:embed="rId4"/>
                <a:stretch>
                  <a:fillRect l="-7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B3A14CA8-B89A-5A79-84DF-5F5EB0D850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0600" y="1334585"/>
            <a:ext cx="3468228" cy="3797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974665"/>
      </p:ext>
    </p:extLst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8F059080-57A8-38A8-D5D2-8B1705CC0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EB508846-B846-90A2-5199-242B2475652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N-MOS NOT gate/Inverter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B7D6EC05-2472-9CCB-F8AA-A2BC802C183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5D52BE57-3DCC-98CC-AC1C-AC74D59F0FD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C6914397-E520-4DAB-C491-1AB9F4FA378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30DAAAC9-342F-1172-0C91-FC0DFB641D5A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307" y="1334585"/>
                <a:ext cx="6069453" cy="46032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14300" lvl="0" indent="0">
                  <a:buSzPct val="75630"/>
                  <a:buNone/>
                </a:pPr>
                <a:r>
                  <a:rPr lang="en-US" sz="2400" dirty="0">
                    <a:solidFill>
                      <a:schemeClr val="tx1"/>
                    </a:solidFill>
                  </a:rPr>
                  <a:t>Find the transition voltage(Saturation to triode) of the inverter. Given </a:t>
                </a:r>
              </a:p>
              <a:p>
                <a:pPr marL="114300" lvl="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𝑇𝑁</m:t>
                          </m:r>
                        </m:sub>
                      </m:sSub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=0.5 </m:t>
                      </m:r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=20 , 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𝑜𝑥</m:t>
                          </m:r>
                        </m:sub>
                      </m:sSub>
                      <m:f>
                        <m:f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num>
                        <m:den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𝑚𝐴</m:t>
                      </m:r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sSup>
                        <m:sSup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30DAAAC9-342F-1172-0C91-FC0DFB641D5A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7" y="1334585"/>
                <a:ext cx="6069453" cy="460322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B4C817CA-22C6-90E0-792B-D7EB7E7881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9777" y="440003"/>
            <a:ext cx="4763165" cy="5287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017973"/>
      </p:ext>
    </p:extLst>
  </p:cSld>
  <p:clrMapOvr>
    <a:masterClrMapping/>
  </p:clrMapOvr>
  <p:transition spd="slow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57E4DACB-F14B-8128-1C06-2323CD640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A43B4DBF-F30C-9478-D32B-939E215B643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N-MOS NOT gate/Inverter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004870EA-6059-CCB2-3888-9F8AB33C279E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0FC5AAB7-75F2-6A0D-010B-78F9EA45EE1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34DA59C7-0DD4-744A-2082-6BB82795524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A09C66CE-B3AA-0240-51A2-B08AD0725C76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307" y="1334585"/>
                <a:ext cx="6069453" cy="46032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14300" lvl="0" indent="0">
                  <a:buSzPct val="75630"/>
                  <a:buNone/>
                </a:pPr>
                <a:r>
                  <a:rPr lang="en-US" sz="2400" dirty="0">
                    <a:solidFill>
                      <a:schemeClr val="tx1"/>
                    </a:solidFill>
                  </a:rPr>
                  <a:t>For transition,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𝐷𝑆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𝐺𝑆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𝑇𝑁</m:t>
                        </m:r>
                      </m:sub>
                    </m:sSub>
                  </m:oMath>
                </a14:m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−0.5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:r>
                  <a:rPr lang="en-US" sz="2400" dirty="0">
                    <a:solidFill>
                      <a:schemeClr val="tx1"/>
                    </a:solidFill>
                  </a:rPr>
                  <a:t>Now,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=0.3 </m:t>
                    </m:r>
                    <m:sSup>
                      <m:sSup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sub>
                            </m:s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−0.5</m:t>
                            </m:r>
                          </m:e>
                        </m:d>
                      </m:e>
                      <m:sup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5−</m:t>
                        </m:r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</m:num>
                      <m:den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den>
                    </m:f>
                  </m:oMath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:endParaRPr lang="en-US" sz="240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=0.3 </m:t>
                      </m:r>
                      <m:sSubSup>
                        <m:sSubSup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5−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num>
                        <m:den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:r>
                  <a:rPr lang="en-US" sz="2400" dirty="0">
                    <a:solidFill>
                      <a:schemeClr val="tx1"/>
                    </a:solidFill>
                  </a:rPr>
                  <a:t>Solving,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=0.5675 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+0.5 =1.0675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A09C66CE-B3AA-0240-51A2-B08AD0725C76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7" y="1334585"/>
                <a:ext cx="6069453" cy="460322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67486944-29E6-967A-55AE-46C84C754D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9777" y="440003"/>
            <a:ext cx="4763165" cy="5287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807197"/>
      </p:ext>
    </p:extLst>
  </p:cSld>
  <p:clrMapOvr>
    <a:masterClrMapping/>
  </p:clrMapOvr>
  <p:transition spd="slow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8E001EB8-442C-BA5A-B476-5FE1EF984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3CF6E9A7-9574-8F1F-5909-65F7B324FE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N-MOS NOR gate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9183CA9F-44A0-B11E-17EC-53BA8213CE93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77A7A3C8-F2E4-1EAA-26CB-7FCD660D07B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BFEDC16E-54FE-4F05-8BD4-37BB06A6DAB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75BC7016-7C5C-5962-C1F6-9CB13316D4C8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308" y="1334585"/>
                <a:ext cx="6693174" cy="46032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14300" lvl="0" indent="0">
                  <a:buSzPct val="75630"/>
                  <a:buNone/>
                </a:pPr>
                <a:r>
                  <a:rPr lang="en-US" sz="2400" dirty="0">
                    <a:solidFill>
                      <a:schemeClr val="tx1"/>
                    </a:solidFill>
                  </a:rPr>
                  <a:t>Here,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𝑇𝑁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=0.8 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𝑜𝑥</m:t>
                        </m:r>
                      </m:sub>
                    </m:sSub>
                    <m:f>
                      <m:f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=0.1 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𝑚𝐴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:r>
                  <a:rPr lang="en-US" sz="2400" dirty="0">
                    <a:solidFill>
                      <a:schemeClr val="tx1"/>
                    </a:solidFill>
                  </a:rPr>
                  <a:t>We can study this NOR gate, with four possible cases.</a:t>
                </a:r>
              </a:p>
              <a:p>
                <a:pPr marL="114300" lvl="0" indent="0">
                  <a:buSzPct val="75630"/>
                  <a:buNone/>
                </a:pPr>
                <a:r>
                  <a:rPr lang="en-US" sz="2400" dirty="0">
                    <a:solidFill>
                      <a:schemeClr val="tx1"/>
                    </a:solidFill>
                  </a:rPr>
                  <a:t>We need to find out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𝑝𝑜𝑤𝑒𝑟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of the NOR gate.</a:t>
                </a:r>
              </a:p>
              <a:p>
                <a:pPr marL="114300" lvl="0" indent="0">
                  <a:buSzPct val="75630"/>
                  <a:buNone/>
                </a:pPr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75BC7016-7C5C-5962-C1F6-9CB13316D4C8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8" y="1334585"/>
                <a:ext cx="6693174" cy="460322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D75A3982-A58E-DEB8-8DB8-A4C8617445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8481" y="402859"/>
            <a:ext cx="4353533" cy="52394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6F2DE0F6-A357-E559-3166-928028E2C80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451508" y="3944338"/>
              <a:ext cx="4546170" cy="212327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515390">
                      <a:extLst>
                        <a:ext uri="{9D8B030D-6E8A-4147-A177-3AD203B41FA5}">
                          <a16:colId xmlns:a16="http://schemas.microsoft.com/office/drawing/2014/main" val="3085871111"/>
                        </a:ext>
                      </a:extLst>
                    </a:gridCol>
                    <a:gridCol w="1515390">
                      <a:extLst>
                        <a:ext uri="{9D8B030D-6E8A-4147-A177-3AD203B41FA5}">
                          <a16:colId xmlns:a16="http://schemas.microsoft.com/office/drawing/2014/main" val="1507516028"/>
                        </a:ext>
                      </a:extLst>
                    </a:gridCol>
                    <a:gridCol w="1515390">
                      <a:extLst>
                        <a:ext uri="{9D8B030D-6E8A-4147-A177-3AD203B41FA5}">
                          <a16:colId xmlns:a16="http://schemas.microsoft.com/office/drawing/2014/main" val="1796757811"/>
                        </a:ext>
                      </a:extLst>
                    </a:gridCol>
                  </a:tblGrid>
                  <a:tr h="42465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smtClean="0">
                                        <a:latin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US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smtClean="0">
                                        <a:latin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US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smtClean="0">
                                        <a:latin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US" b="1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84678536"/>
                      </a:ext>
                    </a:extLst>
                  </a:tr>
                  <a:tr h="424654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62009370"/>
                      </a:ext>
                    </a:extLst>
                  </a:tr>
                  <a:tr h="424654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5V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81392153"/>
                      </a:ext>
                    </a:extLst>
                  </a:tr>
                  <a:tr h="424654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5V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7990256"/>
                      </a:ext>
                    </a:extLst>
                  </a:tr>
                  <a:tr h="424654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5V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5V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2520671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6F2DE0F6-A357-E559-3166-928028E2C80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451508" y="3944338"/>
              <a:ext cx="4546170" cy="212327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515390">
                      <a:extLst>
                        <a:ext uri="{9D8B030D-6E8A-4147-A177-3AD203B41FA5}">
                          <a16:colId xmlns:a16="http://schemas.microsoft.com/office/drawing/2014/main" val="3085871111"/>
                        </a:ext>
                      </a:extLst>
                    </a:gridCol>
                    <a:gridCol w="1515390">
                      <a:extLst>
                        <a:ext uri="{9D8B030D-6E8A-4147-A177-3AD203B41FA5}">
                          <a16:colId xmlns:a16="http://schemas.microsoft.com/office/drawing/2014/main" val="1507516028"/>
                        </a:ext>
                      </a:extLst>
                    </a:gridCol>
                    <a:gridCol w="1515390">
                      <a:extLst>
                        <a:ext uri="{9D8B030D-6E8A-4147-A177-3AD203B41FA5}">
                          <a16:colId xmlns:a16="http://schemas.microsoft.com/office/drawing/2014/main" val="1796757811"/>
                        </a:ext>
                      </a:extLst>
                    </a:gridCol>
                  </a:tblGrid>
                  <a:tr h="42465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402" t="-2857" r="-201606" b="-40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100806" t="-2857" r="-102419" b="-40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200000" t="-2857" r="-2008" b="-4014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84678536"/>
                      </a:ext>
                    </a:extLst>
                  </a:tr>
                  <a:tr h="424654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62009370"/>
                      </a:ext>
                    </a:extLst>
                  </a:tr>
                  <a:tr h="424654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5V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81392153"/>
                      </a:ext>
                    </a:extLst>
                  </a:tr>
                  <a:tr h="424654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5V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7990256"/>
                      </a:ext>
                    </a:extLst>
                  </a:tr>
                  <a:tr h="424654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5V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5V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2520671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190488559"/>
      </p:ext>
    </p:extLst>
  </p:cSld>
  <p:clrMapOvr>
    <a:masterClrMapping/>
  </p:clrMapOvr>
  <p:transition spd="slow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79697085-48F4-1E2D-9A3E-3B189C860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2DBFC620-9D48-C08D-E38C-22F2FA97FE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N-MOS NOR gate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A2B7FAF2-C2B5-EF81-A7F8-46ED5C8BC8EE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97FFC588-609F-A417-0C6F-E6329A7501B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972CA6E3-FE83-8533-2E77-B14C7EEDF05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B2DE1A3B-FDC6-9A69-A41F-691FE75510D4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307" y="1334585"/>
                <a:ext cx="7026133" cy="46032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14300" lvl="0" indent="0">
                  <a:buSzPct val="75630"/>
                  <a:buNone/>
                </a:pPr>
                <a:r>
                  <a:rPr lang="en-US" sz="2400" dirty="0">
                    <a:solidFill>
                      <a:schemeClr val="tx1"/>
                    </a:solidFill>
                  </a:rPr>
                  <a:t>Case 01: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𝐺𝑆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=0&lt;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𝑇𝑁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sz="24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114300" lvl="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1→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𝐶𝑢𝑡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𝑜𝑓𝑓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𝑀𝑜𝑑𝑒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𝑚𝐴</m:t>
                      </m:r>
                    </m:oMath>
                  </m:oMathPara>
                </a14:m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𝐺𝑆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=0&lt;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𝑇𝑁</m:t>
                          </m:r>
                        </m:sub>
                      </m:sSub>
                    </m:oMath>
                  </m:oMathPara>
                </a14:m>
                <a:endParaRPr lang="en-US" sz="24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114300" lvl="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2→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𝐶𝑢𝑡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𝑜𝑓𝑓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𝑀𝑜𝑑𝑒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𝑚𝐴</m:t>
                      </m:r>
                    </m:oMath>
                  </m:oMathPara>
                </a14:m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𝑚𝐴</m:t>
                      </m:r>
                    </m:oMath>
                  </m:oMathPara>
                </a14:m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=5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B2DE1A3B-FDC6-9A69-A41F-691FE75510D4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7" y="1334585"/>
                <a:ext cx="7026133" cy="460322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E008233A-7CB7-9F13-478C-6F5214FBF6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0189" y="920188"/>
            <a:ext cx="4642642" cy="4490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227145"/>
      </p:ext>
    </p:extLst>
  </p:cSld>
  <p:clrMapOvr>
    <a:masterClrMapping/>
  </p:clrMapOvr>
  <p:transition spd="slow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7CBCFCD0-540A-63F2-C5B4-4E94F8D43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686BD31A-3D42-041B-6AFE-78397BD2A5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N-MOS NOR gate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91D8183B-6D31-3E6E-4590-28A70377130D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C494C446-EA4C-1876-34CF-B84181C5D75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E8F33C97-DE74-9B95-1272-34B583FEBB3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C68CD1C3-8EDA-7C7F-8FC4-F825B692EA16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307" y="1334585"/>
                <a:ext cx="7506644" cy="51582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14300" lvl="0" indent="0">
                  <a:buSzPct val="75630"/>
                  <a:buNone/>
                </a:pPr>
                <a:r>
                  <a:rPr lang="en-US" sz="2400" dirty="0">
                    <a:solidFill>
                      <a:schemeClr val="tx1"/>
                    </a:solidFill>
                  </a:rPr>
                  <a:t>Case 02: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=5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𝐺𝑆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=0&lt;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𝑇𝑁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sz="24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114300" lvl="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1→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𝐶𝑢𝑡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𝑜𝑓𝑓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𝑀𝑜𝑑𝑒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𝑚𝐴</m:t>
                      </m:r>
                    </m:oMath>
                  </m:oMathPara>
                </a14:m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𝐺𝑆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=5&gt;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𝑇𝑁</m:t>
                          </m:r>
                        </m:sub>
                      </m:sSub>
                    </m:oMath>
                  </m:oMathPara>
                </a14:m>
                <a:endParaRPr lang="en-US" sz="24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114300" lvl="0" indent="0">
                  <a:buSzPct val="75630"/>
                  <a:buNone/>
                </a:pPr>
                <a:r>
                  <a:rPr lang="en-US" sz="2400" i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Assume M2 in Triode mode</a:t>
                </a:r>
                <a:endParaRPr lang="en-US" sz="24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114300" lvl="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=0.1 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d>
                            <m:d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5−0.8</m:t>
                              </m:r>
                            </m:e>
                          </m:d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  <m:sup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5−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num>
                        <m:den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=0.1 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5−0.8</m:t>
                              </m:r>
                            </m:e>
                          </m:d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  <m:sup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:r>
                  <a:rPr lang="en-US" sz="2400" b="0" dirty="0">
                    <a:solidFill>
                      <a:schemeClr val="tx1"/>
                    </a:solidFill>
                  </a:rPr>
                  <a:t>Solving,</a:t>
                </a:r>
              </a:p>
              <a:p>
                <a:pPr marL="114300" lvl="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=8.6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0.29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8.6 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𝑖𝑠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𝑛𝑜𝑡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𝑎𝑐𝑐𝑒𝑝𝑡𝑎𝑏𝑙𝑒</m:t>
                          </m:r>
                        </m:e>
                      </m:d>
                    </m:oMath>
                  </m:oMathPara>
                </a14:m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:r>
                  <a:rPr lang="en-US" sz="2400" b="0" dirty="0">
                    <a:solidFill>
                      <a:schemeClr val="tx1"/>
                    </a:solidFill>
                  </a:rPr>
                  <a:t>Verification: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𝐷𝑆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=0.29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𝑎𝑛𝑑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𝐺𝑆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𝑇𝑁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=4.2 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:r>
                  <a:rPr lang="en-US" sz="2400" dirty="0">
                    <a:solidFill>
                      <a:schemeClr val="tx1"/>
                    </a:solidFill>
                  </a:rPr>
                  <a:t>As,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𝐷𝑆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𝐺𝑆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𝑇𝑁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2 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𝑖𝑠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𝑖𝑛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𝑇𝑟𝑖𝑜𝑑𝑒</m:t>
                    </m:r>
                  </m:oMath>
                </a14:m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C68CD1C3-8EDA-7C7F-8FC4-F825B692EA16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7" y="1334585"/>
                <a:ext cx="7506644" cy="515829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BE9F8A63-9B12-DEA8-F1BA-7C54E5CDDD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0189" y="920188"/>
            <a:ext cx="4642642" cy="4490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144303"/>
      </p:ext>
    </p:extLst>
  </p:cSld>
  <p:clrMapOvr>
    <a:masterClrMapping/>
  </p:clrMapOvr>
  <p:transition spd="slow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654FA61C-68D5-4827-4932-99B6F81AD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70AD05B1-BA32-0394-E0BF-4E3CD229BA3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N-MOS NOR gate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EBC266C6-CF26-A41B-FD23-020FECCC58FA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B93FC643-E632-800B-5812-3266C50E127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810AD02D-CD3E-2308-D699-33412870805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C0B39520-4E46-984A-A872-F9AA7024C6AE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307" y="1334585"/>
                <a:ext cx="7026133" cy="46032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14300" lvl="0" indent="0">
                  <a:buSzPct val="75630"/>
                  <a:buNone/>
                </a:pPr>
                <a:r>
                  <a:rPr lang="en-US" sz="2400" dirty="0">
                    <a:solidFill>
                      <a:schemeClr val="tx1"/>
                    </a:solidFill>
                  </a:rPr>
                  <a:t>Case 03: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=5 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:r>
                  <a:rPr lang="en-US" sz="2400" b="0" dirty="0">
                    <a:solidFill>
                      <a:schemeClr val="tx1"/>
                    </a:solidFill>
                  </a:rPr>
                  <a:t>Similar to case 2,</a:t>
                </a:r>
              </a:p>
              <a:p>
                <a:pPr marL="114300" lvl="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⇒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0.29 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C0B39520-4E46-984A-A872-F9AA7024C6AE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7" y="1334585"/>
                <a:ext cx="7026133" cy="460322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4D7A2B50-BC98-DD75-3393-C78BAECE81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0189" y="920188"/>
            <a:ext cx="4642642" cy="4490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423113"/>
      </p:ext>
    </p:extLst>
  </p:cSld>
  <p:clrMapOvr>
    <a:masterClrMapping/>
  </p:clrMapOvr>
  <p:transition spd="slow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79A1818D-88BA-C2C8-A1B7-C1DE3B53F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80511306-A433-3ECE-4271-5EF4CE1A1DA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N-MOS NOR gate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BF343E3D-1464-94D3-B77E-BD0809138C1C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FA6F17C4-D1E5-EA61-E717-55D14BA2F44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4064E4A3-EE8F-2D51-28A9-703CE70A9E0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AF6D01FE-794F-2C46-2DBA-6CF7526203F4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307" y="1334585"/>
                <a:ext cx="7026133" cy="46032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14300" lvl="0" indent="0">
                  <a:buSzPct val="75630"/>
                  <a:buNone/>
                </a:pPr>
                <a:r>
                  <a:rPr lang="en-US" sz="2400" dirty="0">
                    <a:solidFill>
                      <a:schemeClr val="tx1"/>
                    </a:solidFill>
                  </a:rPr>
                  <a:t>Case 04: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=5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𝐺𝑆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=5&gt;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𝑇𝑁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sz="24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114300" lvl="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1→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𝑇𝑟𝑖𝑜𝑑𝑒</m:t>
                      </m:r>
                    </m:oMath>
                  </m:oMathPara>
                </a14:m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𝐺𝑆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=5&gt;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𝑇𝑁</m:t>
                          </m:r>
                        </m:sub>
                      </m:sSub>
                    </m:oMath>
                  </m:oMathPara>
                </a14:m>
                <a:endParaRPr lang="en-US" sz="24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114300" lvl="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2→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𝑇𝑟𝑖𝑜𝑑𝑒</m:t>
                      </m:r>
                    </m:oMath>
                  </m:oMathPara>
                </a14:m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114300" lvl="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f>
                        <m:f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5−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num>
                        <m:den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2∗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0.1 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5−0.8</m:t>
                              </m:r>
                            </m:e>
                          </m:d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  <m:sup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=0.149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4.17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4.17 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𝑖𝑠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𝑛𝑜𝑡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𝑎𝑐𝑐𝑒𝑝𝑡𝑎𝑏𝑙𝑒</m:t>
                          </m:r>
                        </m:e>
                      </m:d>
                    </m:oMath>
                  </m:oMathPara>
                </a14:m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⇒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=0.149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AF6D01FE-794F-2C46-2DBA-6CF7526203F4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7" y="1334585"/>
                <a:ext cx="7026133" cy="460322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42132738-1A44-1938-B518-549979BAE3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0189" y="920188"/>
            <a:ext cx="4642642" cy="4490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903615"/>
      </p:ext>
    </p:extLst>
  </p:cSld>
  <p:clrMapOvr>
    <a:masterClrMapping/>
  </p:clrMapOvr>
  <p:transition spd="slow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2D5B30B7-CDBD-A95B-101D-941A5EF25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0137F796-B17B-0AD9-1801-D695C9774AC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Exercise: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9E521988-86CB-F0D6-8F19-E94947409434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B5BD15C7-39E3-00EC-4E8C-6649E9F2341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8E17E942-EF83-E6D5-7BBD-6661CAC8221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2FB88C92-3502-92C1-E66C-AD3B5EE4F99A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307" y="1334585"/>
                <a:ext cx="7026133" cy="46032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14300" lvl="0" indent="0">
                  <a:buSzPct val="75630"/>
                  <a:buNone/>
                </a:pPr>
                <a:r>
                  <a:rPr lang="en-US" sz="2400" b="0" dirty="0">
                    <a:solidFill>
                      <a:schemeClr val="tx1"/>
                    </a:solidFill>
                  </a:rPr>
                  <a:t>For the Given NMOS find the powe</a:t>
                </a:r>
                <a:r>
                  <a:rPr lang="en-US" sz="2400" dirty="0">
                    <a:solidFill>
                      <a:schemeClr val="tx1"/>
                    </a:solidFill>
                  </a:rPr>
                  <a:t>r for all possible input cases. Also find it’s average power.</a:t>
                </a:r>
              </a:p>
              <a:p>
                <a:pPr marL="114300" lvl="0" indent="0">
                  <a:buSzPct val="75630"/>
                  <a:buNone/>
                </a:pPr>
                <a:r>
                  <a:rPr lang="en-US" sz="2400" b="0" dirty="0">
                    <a:solidFill>
                      <a:schemeClr val="tx1"/>
                    </a:solidFill>
                  </a:rPr>
                  <a:t>Given: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𝑜𝑥</m:t>
                        </m:r>
                      </m:sub>
                    </m:sSub>
                    <m:f>
                      <m:f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=100</m:t>
                    </m:r>
                    <m:f>
                      <m:f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sSup>
                          <m:sSup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p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𝑇𝑁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 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 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𝐿𝑜𝑔𝑖𝑐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𝐻𝑖𝑔h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=5 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𝐿𝑜𝑔𝑖𝑐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𝐿𝑜𝑤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2FB88C92-3502-92C1-E66C-AD3B5EE4F99A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7" y="1334585"/>
                <a:ext cx="7026133" cy="460322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2D4E90E7-D4DE-C9A6-6E62-ADC5C1093F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0189" y="920188"/>
            <a:ext cx="4642642" cy="4490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794357"/>
      </p:ext>
    </p:extLst>
  </p:cSld>
  <p:clrMapOvr>
    <a:masterClrMapping/>
  </p:clrMapOvr>
  <p:transition spd="slow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30491ECC-C234-422D-6164-0AEE8E469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8AF6096C-E375-7306-F048-DC100B5646E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Exercise: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FB5C8FDB-7C15-2264-9F6F-4BC5FBC03D88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A5A9AC45-DF21-17EF-A050-7ECC05EFD34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ABD684D5-3FC6-3EC5-3D06-1B0AD8BD65E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E13E1BE-63F6-688D-7AAA-FEE4959138C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0489" b="13012"/>
          <a:stretch>
            <a:fillRect/>
          </a:stretch>
        </p:blipFill>
        <p:spPr>
          <a:xfrm>
            <a:off x="6181898" y="983315"/>
            <a:ext cx="5469515" cy="440639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Google Shape;179;p36">
                <a:extLst>
                  <a:ext uri="{FF2B5EF4-FFF2-40B4-BE49-F238E27FC236}">
                    <a16:creationId xmlns:a16="http://schemas.microsoft.com/office/drawing/2014/main" id="{6B685030-5DE8-04F7-2CA3-F7351FCC824C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307" y="1334585"/>
                <a:ext cx="6069453" cy="46032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14300" lvl="0" indent="0">
                  <a:buSzPct val="75630"/>
                  <a:buNone/>
                </a:pPr>
                <a:r>
                  <a:rPr lang="en-US" sz="2400" dirty="0">
                    <a:solidFill>
                      <a:schemeClr val="tx1"/>
                    </a:solidFill>
                  </a:rPr>
                  <a:t>From the above figure, determine the currents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𝐷𝐴</m:t>
                        </m:r>
                      </m:sub>
                    </m:sSub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𝐷𝐵</m:t>
                        </m:r>
                      </m:sub>
                    </m:sSub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for the cases- </a:t>
                </a:r>
              </a:p>
              <a:p>
                <a:pPr marL="114300" lvl="0" indent="0">
                  <a:buSzPct val="75630"/>
                  <a:buNone/>
                </a:pPr>
                <a:r>
                  <a:rPr lang="en-US" sz="2400" dirty="0">
                    <a:solidFill>
                      <a:schemeClr val="tx1"/>
                    </a:solidFill>
                  </a:rPr>
                  <a:t>Both inputs are high and both inputs are low. Also find the power dissipation of the whole circuit.</a:t>
                </a:r>
              </a:p>
            </p:txBody>
          </p:sp>
        </mc:Choice>
        <mc:Fallback xmlns="">
          <p:sp>
            <p:nvSpPr>
              <p:cNvPr id="6" name="Google Shape;179;p36">
                <a:extLst>
                  <a:ext uri="{FF2B5EF4-FFF2-40B4-BE49-F238E27FC236}">
                    <a16:creationId xmlns:a16="http://schemas.microsoft.com/office/drawing/2014/main" id="{6B685030-5DE8-04F7-2CA3-F7351FCC824C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7" y="1334585"/>
                <a:ext cx="6069453" cy="460322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66009683"/>
      </p:ext>
    </p:extLst>
  </p:cSld>
  <p:clrMapOvr>
    <a:masterClrMapping/>
  </p:clrMapOvr>
  <p:transition spd="slow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B90E538A-C327-38C8-29CB-9764241CB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59812364-523C-F149-C09D-B414C45CC67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Clr>
                <a:schemeClr val="accent1"/>
              </a:buClr>
              <a:buSzPts val="4400"/>
            </a:pPr>
            <a:r>
              <a:rPr lang="en-US" dirty="0">
                <a:solidFill>
                  <a:schemeClr val="accent1"/>
                </a:solidFill>
              </a:rPr>
              <a:t>Enhancement &amp; Depletion Type Loads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1DCAA2F6-9E84-1F7D-D05D-3A5DEC625FAD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A55B1B8E-A7E6-4977-F9B0-BF119F339FF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2ED9F88D-83D8-181C-B505-75B0AB12076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78DA241E-3BE0-F737-975F-28FAD67DDDC2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307" y="1334585"/>
                <a:ext cx="6069453" cy="46032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 fontScale="92500"/>
              </a:bodyPr>
              <a:lstStyle/>
              <a:p>
                <a:pPr marL="114300" lvl="0" indent="0">
                  <a:buSzPct val="75630"/>
                  <a:buNone/>
                </a:pPr>
                <a:r>
                  <a:rPr lang="en-US" sz="2400" dirty="0">
                    <a:solidFill>
                      <a:schemeClr val="tx1"/>
                    </a:solidFill>
                  </a:rPr>
                  <a:t>To reduce the size of NMOS logic circuits, often we use an enhancement or depletion type NMOS</a:t>
                </a:r>
              </a:p>
              <a:p>
                <a:pPr marL="114300" lvl="0" indent="0">
                  <a:buSzPct val="75630"/>
                  <a:buNone/>
                </a:pPr>
                <a:r>
                  <a:rPr lang="en-US" sz="2400" dirty="0">
                    <a:solidFill>
                      <a:schemeClr val="tx1"/>
                    </a:solidFill>
                  </a:rPr>
                  <a:t>load instead of the resistor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, as resistors have a larger size.</a:t>
                </a:r>
              </a:p>
              <a:p>
                <a:pPr marL="114300" lvl="0" indent="0">
                  <a:buSzPct val="75630"/>
                  <a:buNone/>
                </a:pPr>
                <a:r>
                  <a:rPr lang="en-US" sz="2400" dirty="0">
                    <a:solidFill>
                      <a:schemeClr val="tx1"/>
                    </a:solidFill>
                  </a:rPr>
                  <a:t>In case of enhancement type loads, the drain and gate of the NMOS are shorted. Thus,</a:t>
                </a:r>
              </a:p>
              <a:p>
                <a:pPr marL="114300" lvl="0" indent="0">
                  <a:buSzPct val="75630"/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sSub>
                      <m:sSubPr>
                        <m:ctrlP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for these load NMOS. </a:t>
                </a:r>
              </a:p>
              <a:p>
                <a:pPr marL="114300" lvl="0" indent="0">
                  <a:buSzPct val="75630"/>
                  <a:buNone/>
                </a:pPr>
                <a:r>
                  <a:rPr lang="en-US" sz="2200" dirty="0">
                    <a:solidFill>
                      <a:schemeClr val="tx1"/>
                    </a:solidFill>
                  </a:rPr>
                  <a:t>So,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2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𝐷𝑆</m:t>
                        </m:r>
                      </m:sub>
                    </m:sSub>
                    <m:r>
                      <a:rPr lang="en-US" sz="2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sSub>
                      <m:sSubPr>
                        <m:ctrlPr>
                          <a:rPr lang="en-US" sz="2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2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𝐺𝑆</m:t>
                        </m:r>
                      </m:sub>
                    </m:sSub>
                    <m:r>
                      <a:rPr lang="en-US" sz="2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&gt; </m:t>
                    </m:r>
                    <m:sSub>
                      <m:sSubPr>
                        <m:ctrlPr>
                          <a:rPr lang="en-US" sz="2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2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𝑂𝑉</m:t>
                        </m:r>
                      </m:sub>
                    </m:sSub>
                    <m:r>
                      <a:rPr lang="en-US" sz="2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</a:rPr>
                  <a:t>, 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2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𝑂𝑉</m:t>
                        </m:r>
                      </m:sub>
                    </m:sSub>
                    <m:r>
                      <a:rPr lang="en-US" sz="2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sSub>
                      <m:sSubPr>
                        <m:ctrlPr>
                          <a:rPr lang="en-US" sz="2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2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𝐺𝑆</m:t>
                        </m:r>
                      </m:sub>
                    </m:sSub>
                    <m:r>
                      <a:rPr lang="en-US" sz="2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− </m:t>
                    </m:r>
                    <m:sSub>
                      <m:sSubPr>
                        <m:ctrlPr>
                          <a:rPr lang="en-US" sz="2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2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𝑇𝑁</m:t>
                        </m:r>
                      </m:sub>
                    </m:sSub>
                    <m:r>
                      <a:rPr lang="en-US" sz="2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</a:rPr>
                  <a:t>. </a:t>
                </a:r>
              </a:p>
              <a:p>
                <a:pPr marL="114300" lvl="0" indent="0">
                  <a:buSzPct val="75630"/>
                  <a:buNone/>
                </a:pPr>
                <a:r>
                  <a:rPr lang="en-US" sz="2400" dirty="0">
                    <a:solidFill>
                      <a:schemeClr val="tx1"/>
                    </a:solidFill>
                  </a:rPr>
                  <a:t>Thus, these load NMOS are always in saturation mode, as their drain is connected to the source voltage VDD.</a:t>
                </a:r>
              </a:p>
            </p:txBody>
          </p:sp>
        </mc:Choice>
        <mc:Fallback xmlns="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78DA241E-3BE0-F737-975F-28FAD67DDDC2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7" y="1334585"/>
                <a:ext cx="6069453" cy="4603227"/>
              </a:xfrm>
              <a:prstGeom prst="rect">
                <a:avLst/>
              </a:prstGeom>
              <a:blipFill>
                <a:blip r:embed="rId4"/>
                <a:stretch>
                  <a:fillRect r="-220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C4240427-2489-9423-3660-766F3007F5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4369" y="1447960"/>
            <a:ext cx="3305636" cy="3477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1468745"/>
      </p:ext>
    </p:extLst>
  </p:cSld>
  <p:clrMapOvr>
    <a:masterClrMapping/>
  </p:clrMapOvr>
  <p:transition spd="slow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29EBE575-AFB2-E832-587E-CC8DB1BB8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B9178B93-C6F4-0178-FD22-A0E80C5D1E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Clr>
                <a:schemeClr val="accent1"/>
              </a:buClr>
              <a:buSzPts val="4400"/>
            </a:pPr>
            <a:r>
              <a:rPr lang="en-US" dirty="0">
                <a:solidFill>
                  <a:schemeClr val="accent1"/>
                </a:solidFill>
              </a:rPr>
              <a:t>Enhancement &amp; Depletion Type Loads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82A0928D-9D68-FC81-96A7-1343E802ED2E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DB560E2F-F7BC-4141-96E5-408E5ABB7BF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EC199D0E-F20C-BD28-78DE-E29B56D2864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907136E6-CD27-CB45-B46E-A86224743C3A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307" y="1334585"/>
                <a:ext cx="6069453" cy="46032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14300" lvl="0" indent="0">
                  <a:buSzPct val="75630"/>
                  <a:buNone/>
                </a:pPr>
                <a:r>
                  <a:rPr lang="en-US" sz="2400" dirty="0">
                    <a:solidFill>
                      <a:schemeClr val="tx1"/>
                    </a:solidFill>
                  </a:rPr>
                  <a:t>The depletion type loads are just another NMOS connected in replacement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.</a:t>
                </a:r>
              </a:p>
              <a:p>
                <a:pPr marL="114300" lvl="0" indent="0">
                  <a:buSzPct val="75630"/>
                  <a:buNone/>
                </a:pPr>
                <a:r>
                  <a:rPr lang="en-US" sz="2400" dirty="0">
                    <a:solidFill>
                      <a:schemeClr val="tx1"/>
                    </a:solidFill>
                  </a:rPr>
                  <a:t>Just the fact that they are of depletion type means their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𝑇𝑁</m:t>
                        </m:r>
                      </m:sub>
                    </m:sSub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&lt; 0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. Since they do not need any gate voltage to turn on,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𝐺𝑆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can be made 0, by shorting their gate with their source.</a:t>
                </a:r>
              </a:p>
            </p:txBody>
          </p:sp>
        </mc:Choice>
        <mc:Fallback xmlns="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907136E6-CD27-CB45-B46E-A86224743C3A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7" y="1334585"/>
                <a:ext cx="6069453" cy="4603227"/>
              </a:xfrm>
              <a:prstGeom prst="rect">
                <a:avLst/>
              </a:prstGeom>
              <a:blipFill>
                <a:blip r:embed="rId4"/>
                <a:stretch>
                  <a:fillRect r="-180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88CF2B23-70F0-0320-4079-BB950D82B4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8481" y="1514644"/>
            <a:ext cx="3477110" cy="3343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850849"/>
      </p:ext>
    </p:extLst>
  </p:cSld>
  <p:clrMapOvr>
    <a:masterClrMapping/>
  </p:clrMapOvr>
  <p:transition spd="slow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BCC9C3AD-EDCE-3BF6-47BE-898EF44EC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427623FE-0087-E1D5-77BA-9BE1F640EF8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Clr>
                <a:schemeClr val="accent1"/>
              </a:buClr>
              <a:buSzPts val="4400"/>
            </a:pPr>
            <a:r>
              <a:rPr lang="en-US" dirty="0">
                <a:solidFill>
                  <a:schemeClr val="accent1"/>
                </a:solidFill>
              </a:rPr>
              <a:t>Enhancement Type Loads Example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7B4095B1-C43B-4E81-2C5F-5695293E0797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2EE236FD-65F7-B5B2-BF3E-DFF84CFEA1C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B66994EF-4ADB-7456-C3C1-A9850E464BE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10C76145-273A-44BD-16E3-0CDBE97BB69C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307" y="1334585"/>
                <a:ext cx="7052680" cy="46032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14300" lvl="0" indent="0">
                  <a:buSzPct val="75630"/>
                  <a:buNone/>
                </a:pPr>
                <a:r>
                  <a:rPr lang="en-US" sz="2400" dirty="0">
                    <a:solidFill>
                      <a:schemeClr val="tx1"/>
                    </a:solidFill>
                  </a:rPr>
                  <a:t>Parameters for the driver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𝑇𝑁𝐷</m:t>
                        </m:r>
                      </m:sub>
                    </m:sSub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= 1 </m:t>
                    </m:r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, </m:t>
                    </m:r>
                  </m:oMath>
                </a14:m>
                <a:endParaRPr lang="en-US" sz="24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114300" lvl="0" indent="0">
                  <a:buSzPct val="75630"/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sz="2400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𝑛𝐷</m:t>
                        </m:r>
                      </m:sub>
                    </m:sSub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= 50</m:t>
                    </m:r>
                    <m:r>
                      <a:rPr 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. Parameters for the load,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𝑀𝐿</m:t>
                    </m:r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𝑇𝑁𝐿</m:t>
                        </m:r>
                      </m:sub>
                    </m:sSub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= 1 </m:t>
                    </m:r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, </m:t>
                    </m:r>
                    <m:sSub>
                      <m:sSubPr>
                        <m:ctrlP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sz="2400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𝑛𝐿</m:t>
                        </m:r>
                      </m:sub>
                    </m:sSub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= 10</m:t>
                    </m:r>
                    <m:r>
                      <a:rPr 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. Determine the output voltage and the current for both high and low input cases.</a:t>
                </a:r>
              </a:p>
            </p:txBody>
          </p:sp>
        </mc:Choice>
        <mc:Fallback xmlns="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10C76145-273A-44BD-16E3-0CDBE97BB69C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7" y="1334585"/>
                <a:ext cx="7052680" cy="460322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F8A61B7D-F548-1B94-0A3D-908DD0725F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5130" y="1137940"/>
            <a:ext cx="3896269" cy="3448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288192"/>
      </p:ext>
    </p:extLst>
  </p:cSld>
  <p:clrMapOvr>
    <a:masterClrMapping/>
  </p:clrMapOvr>
  <p:transition spd="slow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A44A9C39-3A97-F816-79C1-21412729C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1E07282C-FF13-6456-765D-54915C3BE9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Clr>
                <a:schemeClr val="accent1"/>
              </a:buClr>
              <a:buSzPts val="4400"/>
            </a:pPr>
            <a:r>
              <a:rPr lang="en-US" dirty="0">
                <a:solidFill>
                  <a:schemeClr val="accent1"/>
                </a:solidFill>
              </a:rPr>
              <a:t>Enhancement Type Loads Example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B47B61C6-89C9-FE23-9FD5-CC94808D79FE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9FECAEFA-BCFE-3D24-10FB-D8C41884D5D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67B5E478-47D8-55ED-0756-F817BA12046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DAE33583-8E29-F745-1C4D-70F249BAC98F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306" y="1334585"/>
                <a:ext cx="7839261" cy="46032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14300" lvl="0" indent="0">
                  <a:buSzPct val="75630"/>
                  <a:buNone/>
                </a:pPr>
                <a:r>
                  <a:rPr lang="en-US" sz="2400" dirty="0">
                    <a:solidFill>
                      <a:schemeClr val="tx1"/>
                    </a:solidFill>
                  </a:rPr>
                  <a:t>Case (0):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 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will be in cutoff. Thus,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𝐷𝐿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. Now, the load ML is an</a:t>
                </a:r>
              </a:p>
              <a:p>
                <a:pPr marL="114300" lvl="0" indent="0">
                  <a:buSzPct val="75630"/>
                  <a:buNone/>
                </a:pPr>
                <a:r>
                  <a:rPr lang="en-US" sz="2400" dirty="0">
                    <a:solidFill>
                      <a:schemeClr val="tx1"/>
                    </a:solidFill>
                  </a:rPr>
                  <a:t>enhancement type NMOS. So, it will always stay in saturation. </a:t>
                </a:r>
              </a:p>
              <a:p>
                <a:pPr marL="114300" lvl="0" indent="0">
                  <a:buSzPct val="75630"/>
                  <a:buNone/>
                </a:pPr>
                <a:r>
                  <a:rPr lang="en-US" sz="2400" dirty="0">
                    <a:solidFill>
                      <a:schemeClr val="tx1"/>
                    </a:solidFill>
                  </a:rPr>
                  <a:t>So,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𝐷𝐿</m:t>
                        </m:r>
                      </m:sub>
                    </m:sSub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sSub>
                      <m:sSubPr>
                        <m:ctrlP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sz="2400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𝑛𝐿</m:t>
                        </m:r>
                      </m:sub>
                    </m:sSub>
                    <m:sSup>
                      <m:sSupPr>
                        <m:ctrlP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2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𝐺𝑆𝐿</m:t>
                                </m:r>
                              </m:sub>
                            </m:sSub>
                            <m:r>
                              <a:rPr lang="en-US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2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𝑇𝑁𝐿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:r>
                  <a:rPr lang="en-US" sz="2400" dirty="0">
                    <a:solidFill>
                      <a:schemeClr val="tx1"/>
                    </a:solidFill>
                  </a:rPr>
                  <a:t>Since ,</a:t>
                </a:r>
              </a:p>
              <a:p>
                <a:pPr marL="114300" lvl="0" indent="0">
                  <a:buSzPct val="75630"/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𝐺𝐿</m:t>
                        </m:r>
                      </m:sub>
                    </m:sSub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sSub>
                      <m:sSubPr>
                        <m:ctrlP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𝐷𝐿</m:t>
                        </m:r>
                      </m:sub>
                    </m:sSub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= 5 </m:t>
                    </m:r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, </m:t>
                    </m:r>
                    <m:sSub>
                      <m:sSubPr>
                        <m:ctrlP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𝐺𝑆𝐿</m:t>
                        </m:r>
                      </m:sub>
                    </m:sSub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sSub>
                      <m:sSubPr>
                        <m:ctrlP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𝐺𝐿</m:t>
                        </m:r>
                      </m:sub>
                    </m:sSub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− </m:t>
                    </m:r>
                    <m:sSub>
                      <m:sSubPr>
                        <m:ctrlP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𝑆𝐿</m:t>
                        </m:r>
                      </m:sub>
                    </m:sSub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= 5 − </m:t>
                    </m:r>
                    <m:sSub>
                      <m:sSubPr>
                        <m:ctrlP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.</a:t>
                </a:r>
              </a:p>
              <a:p>
                <a:pPr marL="114300" lvl="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𝐷𝐿</m:t>
                          </m:r>
                        </m:sub>
                      </m:sSub>
                      <m:r>
                        <a:rPr lang="en-US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 10 ×</m:t>
                      </m:r>
                      <m:r>
                        <a:rPr 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0.001</m:t>
                      </m:r>
                      <m:r>
                        <a:rPr 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5 </m:t>
                              </m:r>
                              <m: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 </m:t>
                              </m:r>
                              <m: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𝑉𝑌</m:t>
                              </m:r>
                              <m: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− 1</m:t>
                              </m:r>
                            </m:e>
                          </m:d>
                        </m:e>
                        <m:sup>
                          <m: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⇒ 0 = 10 ×</m:t>
                      </m:r>
                      <m:r>
                        <a:rPr 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0.001</m:t>
                      </m:r>
                      <m:r>
                        <a:rPr 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5 </m:t>
                              </m:r>
                              <m: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 </m:t>
                              </m:r>
                              <m: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𝑉𝑌</m:t>
                              </m:r>
                              <m: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− 1</m:t>
                              </m:r>
                            </m:e>
                          </m:d>
                        </m:e>
                        <m:sup>
                          <m:r>
                            <a:rPr 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=4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DAE33583-8E29-F745-1C4D-70F249BAC98F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6" y="1334585"/>
                <a:ext cx="7839261" cy="460322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34283FD4-805F-FB34-37C5-D5F23F9C6C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5130" y="1137940"/>
            <a:ext cx="3896269" cy="3448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155668"/>
      </p:ext>
    </p:extLst>
  </p:cSld>
  <p:clrMapOvr>
    <a:masterClrMapping/>
  </p:clrMapOvr>
  <p:transition spd="slow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21348918-7542-1D03-67B3-A8EE83C71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20DB5FD8-AE1F-F92D-8F81-320F267EE7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Clr>
                <a:schemeClr val="accent1"/>
              </a:buClr>
              <a:buSzPts val="4400"/>
            </a:pPr>
            <a:r>
              <a:rPr lang="en-US" dirty="0">
                <a:solidFill>
                  <a:schemeClr val="accent1"/>
                </a:solidFill>
              </a:rPr>
              <a:t>Enhancement Type Loads Example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A9360BE3-2C0B-56FF-71F9-C172FBA4705C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C18BBE83-11A8-F66D-2CFF-31C6681DF8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E475C9E6-1C26-1A64-A100-6374241C306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896463BE-C04D-75E2-9B5D-03758A2CB4C2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307" y="1334585"/>
                <a:ext cx="8858743" cy="46032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14300" lvl="0" indent="0">
                  <a:buSzPct val="75630"/>
                  <a:buNone/>
                </a:pPr>
                <a:r>
                  <a:rPr lang="en-US" sz="2400" dirty="0">
                    <a:solidFill>
                      <a:schemeClr val="tx1"/>
                    </a:solidFill>
                  </a:rPr>
                  <a:t>Case (1):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=5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can be assumed to be in triode. As always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is in saturation. So </a:t>
                </a:r>
              </a:p>
              <a:p>
                <a:pPr marL="114300" lvl="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𝐷𝐿</m:t>
                          </m:r>
                        </m:sub>
                      </m:sSub>
                    </m:oMath>
                  </m:oMathPara>
                </a14:m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𝑛𝐷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d>
                            <m:d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5−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V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24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TND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sub>
                          </m:sSub>
                          <m:r>
                            <a:rPr lang="en-US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sub>
                            <m:sup>
                              <m:r>
                                <a:rPr lang="en-US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r>
                        <a:rPr lang="en-US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nL</m:t>
                          </m:r>
                        </m:sub>
                      </m:sSub>
                      <m:sSup>
                        <m:sSup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5−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V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24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Y</m:t>
                                  </m:r>
                                </m:sub>
                              </m:sSub>
                              <m:r>
                                <a:rPr lang="en-US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V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TNL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⇒0.05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d>
                            <m:d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5−1</m:t>
                              </m:r>
                            </m:e>
                          </m:d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sub>
                          </m:s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sub>
                            <m:sup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=0.01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sSup>
                        <m:sSup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5−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=7.65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0.34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:r>
                  <a:rPr lang="en-US" sz="2400" dirty="0">
                    <a:solidFill>
                      <a:schemeClr val="tx1"/>
                    </a:solidFill>
                  </a:rPr>
                  <a:t>Acceptable,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=0.34 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:r>
                  <a:rPr lang="en-US" sz="2400" b="0" dirty="0">
                    <a:solidFill>
                      <a:schemeClr val="tx1"/>
                    </a:solidFill>
                  </a:rPr>
                  <a:t>Now,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d>
                      <m:d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d>
                      <m:d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d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=0.01</m:t>
                    </m:r>
                    <m:sSup>
                      <m:sSup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d>
                          <m:d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5−0.34−1</m:t>
                            </m:r>
                          </m:e>
                        </m:d>
                      </m:e>
                      <m:sup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=0.134 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𝑚𝐴</m:t>
                    </m:r>
                  </m:oMath>
                </a14:m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896463BE-C04D-75E2-9B5D-03758A2CB4C2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7" y="1334585"/>
                <a:ext cx="8858743" cy="460322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739853"/>
      </p:ext>
    </p:extLst>
  </p:cSld>
  <p:clrMapOvr>
    <a:masterClrMapping/>
  </p:clrMapOvr>
  <p:transition spd="slow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2D54B4EF-CE50-1F9E-8C3A-9AF5359B3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A089CCA6-3FDC-9F33-2F7F-103C242BD3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Clr>
                <a:schemeClr val="accent1"/>
              </a:buClr>
              <a:buSzPts val="4400"/>
            </a:pPr>
            <a:r>
              <a:rPr lang="en-US" dirty="0">
                <a:solidFill>
                  <a:schemeClr val="accent1"/>
                </a:solidFill>
              </a:rPr>
              <a:t>Depletion type Type Loads Example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993E178D-8481-CE3D-7AEF-17B912B784FA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924B62E3-F565-D880-E903-C381E2BBB21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F1E6A822-C275-12EA-7867-C02F44CA186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5BE7CF7-CD5F-CE66-B441-125C4FD465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0205" y="1153332"/>
            <a:ext cx="5734850" cy="406636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Google Shape;179;p36">
                <a:extLst>
                  <a:ext uri="{FF2B5EF4-FFF2-40B4-BE49-F238E27FC236}">
                    <a16:creationId xmlns:a16="http://schemas.microsoft.com/office/drawing/2014/main" id="{7A04CD47-5A62-EA55-9ABD-887CA510F8D7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2183569" y="4527550"/>
                <a:ext cx="8891486" cy="13029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14300" lvl="0" indent="0">
                  <a:buSzPct val="75630"/>
                  <a:buNone/>
                </a:pPr>
                <a:r>
                  <a:rPr lang="en-US" sz="1600" dirty="0">
                    <a:solidFill>
                      <a:schemeClr val="tx1"/>
                    </a:solidFill>
                  </a:rPr>
                  <a:t>It is given that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sSup>
                          <m:sSupPr>
                            <m:ctrlP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p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𝑇𝑁𝐴</m:t>
                        </m:r>
                      </m:sub>
                    </m:sSub>
                    <m:r>
                      <a:rPr lang="en-US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=</m:t>
                    </m:r>
                    <m:sSub>
                      <m:sSubPr>
                        <m:ctrlPr>
                          <a:rPr lang="en-U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𝑇𝑁𝐵</m:t>
                        </m:r>
                      </m:sub>
                    </m:sSub>
                    <m:r>
                      <a:rPr lang="en-US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=0.4</m:t>
                    </m:r>
                    <m:r>
                      <a:rPr lang="en-US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𝑇𝑁𝐿</m:t>
                        </m:r>
                      </m:sub>
                    </m:sSub>
                    <m:r>
                      <a:rPr lang="en-US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=−0.6</m:t>
                    </m:r>
                    <m:r>
                      <a:rPr lang="en-US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16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16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6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num>
                              <m:den>
                                <m:r>
                                  <a:rPr lang="en-US" sz="16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=4 </m:t>
                    </m:r>
                    <m:r>
                      <a:rPr lang="en-US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16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114300" lvl="0" indent="0">
                  <a:buSzPct val="75630"/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16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16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6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num>
                              <m:den>
                                <m:r>
                                  <a:rPr lang="en-US" sz="16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16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16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6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num>
                              <m:den>
                                <m:r>
                                  <a:rPr lang="en-US" sz="16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=1. </m:t>
                    </m:r>
                    <m:r>
                      <a:rPr lang="en-US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𝐻𝑒𝑟𝑒</m:t>
                    </m:r>
                    <m:r>
                      <a:rPr lang="en-US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6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6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num>
                          <m:den>
                            <m:r>
                              <a:rPr lang="en-US" sz="16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den>
                        </m:f>
                      </m:e>
                    </m:d>
                    <m:sSubSup>
                      <m:sSubSupPr>
                        <m:ctrlPr>
                          <a:rPr lang="en-U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Find all the currents and the output voltages for all cases.</a:t>
                </a:r>
              </a:p>
            </p:txBody>
          </p:sp>
        </mc:Choice>
        <mc:Fallback>
          <p:sp>
            <p:nvSpPr>
              <p:cNvPr id="2" name="Google Shape;179;p36">
                <a:extLst>
                  <a:ext uri="{FF2B5EF4-FFF2-40B4-BE49-F238E27FC236}">
                    <a16:creationId xmlns:a16="http://schemas.microsoft.com/office/drawing/2014/main" id="{7A04CD47-5A62-EA55-9ABD-887CA510F8D7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183569" y="4527550"/>
                <a:ext cx="8891486" cy="130297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7600823"/>
      </p:ext>
    </p:extLst>
  </p:cSld>
  <p:clrMapOvr>
    <a:masterClrMapping/>
  </p:clrMapOvr>
  <p:transition spd="slow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C16F2C45-53B5-7D0B-0D4B-E47B6461A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22ADDBCD-73B7-94A8-345C-DA24CB95BC6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Clr>
                <a:schemeClr val="accent1"/>
              </a:buClr>
              <a:buSzPts val="4400"/>
            </a:pPr>
            <a:r>
              <a:rPr lang="en-US" dirty="0">
                <a:solidFill>
                  <a:schemeClr val="accent1"/>
                </a:solidFill>
              </a:rPr>
              <a:t>Depletion type </a:t>
            </a:r>
            <a:r>
              <a:rPr lang="en-US" dirty="0" err="1">
                <a:solidFill>
                  <a:schemeClr val="accent1"/>
                </a:solidFill>
              </a:rPr>
              <a:t>Type</a:t>
            </a:r>
            <a:r>
              <a:rPr lang="en-US" dirty="0">
                <a:solidFill>
                  <a:schemeClr val="accent1"/>
                </a:solidFill>
              </a:rPr>
              <a:t> Loads Example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DACF2804-60E5-BBAA-48EC-34752D0D7D38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0EBDE0CC-7F97-5A48-E843-4275D2259A7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3BB0CAA2-F83A-0351-67D8-7420A727E01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Google Shape;179;p36">
                <a:extLst>
                  <a:ext uri="{FF2B5EF4-FFF2-40B4-BE49-F238E27FC236}">
                    <a16:creationId xmlns:a16="http://schemas.microsoft.com/office/drawing/2014/main" id="{B9A839B6-EB23-12EE-B862-EB41F2E69BC0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747380" y="1041384"/>
                <a:ext cx="8212509" cy="52429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 fontScale="85000" lnSpcReduction="10000"/>
              </a:bodyPr>
              <a:lstStyle/>
              <a:p>
                <a:pPr marL="114300" lvl="0" indent="0">
                  <a:buSzPct val="75630"/>
                  <a:buNone/>
                </a:pPr>
                <a:r>
                  <a:rPr lang="en-US" sz="2400" b="1" dirty="0">
                    <a:solidFill>
                      <a:schemeClr val="tx1"/>
                    </a:solidFill>
                  </a:rPr>
                  <a:t>Case (0,0):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sz="2400" b="0" dirty="0">
                    <a:solidFill>
                      <a:schemeClr val="tx1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sz="2400" b="0" dirty="0">
                    <a:solidFill>
                      <a:schemeClr val="tx1"/>
                    </a:solidFill>
                  </a:rPr>
                  <a:t> are both off. Thus,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𝐷𝐿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𝐷𝐴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𝐷𝐵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b="0" dirty="0">
                    <a:solidFill>
                      <a:schemeClr val="tx1"/>
                    </a:solidFill>
                  </a:rPr>
                  <a:t>. </a:t>
                </a:r>
                <a:r>
                  <a:rPr lang="en-US" sz="2400" dirty="0">
                    <a:solidFill>
                      <a:schemeClr val="tx1"/>
                    </a:solidFill>
                  </a:rPr>
                  <a:t>Let assume, triode mode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𝐷𝐿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⇒0.1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∗4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d>
                            <m:d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0−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−0.6</m:t>
                                  </m:r>
                                </m:e>
                              </m:d>
                            </m:e>
                          </m:d>
                          <m:d>
                            <m:d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5−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5−</m:t>
                                  </m:r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=5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, 3.8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:r>
                  <a:rPr lang="en-US" sz="2400" b="0" dirty="0">
                    <a:solidFill>
                      <a:schemeClr val="tx1"/>
                    </a:solidFill>
                  </a:rPr>
                  <a:t>Since no current is flowing, there will be no drops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r>
                  <a:rPr lang="en-US" sz="2400" b="0" dirty="0">
                    <a:solidFill>
                      <a:schemeClr val="tx1"/>
                    </a:solidFill>
                  </a:rPr>
                  <a:t>So,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=5 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b="0" dirty="0">
                    <a:solidFill>
                      <a:schemeClr val="tx1"/>
                    </a:solidFill>
                  </a:rPr>
                  <a:t> is the more acceptable value.</a:t>
                </a:r>
              </a:p>
              <a:p>
                <a:pPr marL="114300" lvl="0" indent="0">
                  <a:buSzPct val="75630"/>
                  <a:buNone/>
                </a:pPr>
                <a:r>
                  <a:rPr lang="en-US" sz="2400" b="1" dirty="0">
                    <a:solidFill>
                      <a:schemeClr val="tx1"/>
                    </a:solidFill>
                  </a:rPr>
                  <a:t>Case (0,1):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b="0" dirty="0">
                    <a:solidFill>
                      <a:schemeClr val="tx1"/>
                    </a:solidFill>
                  </a:rPr>
                  <a:t> will be cutoff. </a:t>
                </a:r>
              </a:p>
              <a:p>
                <a:pPr marL="114300" lvl="0" indent="0">
                  <a:buSzPct val="75630"/>
                  <a:buNone/>
                </a:pPr>
                <a:r>
                  <a:rPr lang="en-US" sz="2400" b="0" dirty="0">
                    <a:solidFill>
                      <a:schemeClr val="tx1"/>
                    </a:solidFill>
                  </a:rPr>
                  <a:t>Since,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𝐺𝑆𝐿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𝑇𝑁𝐿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=0−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−0.6</m:t>
                        </m:r>
                      </m:e>
                    </m:d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=0.6&lt;5, 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sz="2400" b="0" dirty="0">
                    <a:solidFill>
                      <a:schemeClr val="tx1"/>
                    </a:solidFill>
                  </a:rPr>
                  <a:t> migh</a:t>
                </a:r>
                <a:r>
                  <a:rPr lang="en-US" sz="2400" dirty="0">
                    <a:solidFill>
                      <a:schemeClr val="tx1"/>
                    </a:solidFill>
                  </a:rPr>
                  <a:t>t be in saturation mode. Also,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</m:oMath>
                </a14:m>
                <a:r>
                  <a:rPr lang="en-US" sz="2400" b="0" dirty="0">
                    <a:solidFill>
                      <a:schemeClr val="tx1"/>
                    </a:solidFill>
                  </a:rPr>
                  <a:t> is expected to be low, triode mode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sz="2400" b="0" dirty="0">
                    <a:solidFill>
                      <a:schemeClr val="tx1"/>
                    </a:solidFill>
                  </a:rPr>
                  <a:t>.</a:t>
                </a:r>
              </a:p>
              <a:p>
                <a:pPr marL="114300" lvl="0" indent="0">
                  <a:buSzPct val="75630"/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⇒ 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𝐷𝐴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𝐷𝐵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𝐷𝐿</m:t>
                        </m:r>
                      </m:sub>
                    </m:sSub>
                  </m:oMath>
                </a14:m>
                <a:r>
                  <a:rPr lang="en-US" sz="2400" b="0" dirty="0">
                    <a:solidFill>
                      <a:schemeClr val="tx1"/>
                    </a:solidFill>
                  </a:rPr>
                  <a:t> </a:t>
                </a:r>
              </a:p>
              <a:p>
                <a:pPr marL="114300" lvl="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⇒0+0.1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∗1[</m:t>
                      </m:r>
                      <m:d>
                        <m:dPr>
                          <m:endChr m:val="]"/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d>
                            <m:d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d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sub>
                          </m:s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sub>
                            <m:sup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=0.1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∗4</m:t>
                      </m:r>
                      <m:sSup>
                        <m:sSup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0−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−0.6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=9.04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,0.156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V</m:t>
                      </m:r>
                    </m:oMath>
                  </m:oMathPara>
                </a14:m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:r>
                  <a:rPr lang="en-US" sz="2400" dirty="0">
                    <a:solidFill>
                      <a:schemeClr val="tx1"/>
                    </a:solidFill>
                  </a:rPr>
                  <a:t>Acceptable,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=0.156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𝑁𝑜𝑤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𝐷𝐿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𝐷𝐵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=0.1∗4</m:t>
                      </m:r>
                      <m:sSup>
                        <m:sSup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0−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−0.6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=0.144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𝑚𝐴</m:t>
                      </m:r>
                    </m:oMath>
                  </m:oMathPara>
                </a14:m>
                <a:endParaRPr lang="en-US" sz="2400" b="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" name="Google Shape;179;p36">
                <a:extLst>
                  <a:ext uri="{FF2B5EF4-FFF2-40B4-BE49-F238E27FC236}">
                    <a16:creationId xmlns:a16="http://schemas.microsoft.com/office/drawing/2014/main" id="{B9A839B6-EB23-12EE-B862-EB41F2E69BC0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47380" y="1041384"/>
                <a:ext cx="8212509" cy="5242989"/>
              </a:xfrm>
              <a:prstGeom prst="rect">
                <a:avLst/>
              </a:prstGeom>
              <a:blipFill>
                <a:blip r:embed="rId4"/>
                <a:stretch>
                  <a:fillRect r="-52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BA3A0108-444A-E63F-3458-9B073844FB0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5305" r="31480"/>
          <a:stretch/>
        </p:blipFill>
        <p:spPr>
          <a:xfrm>
            <a:off x="8812530" y="1153332"/>
            <a:ext cx="3051810" cy="4066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17264"/>
      </p:ext>
    </p:extLst>
  </p:cSld>
  <p:clrMapOvr>
    <a:masterClrMapping/>
  </p:clrMapOvr>
  <p:transition spd="slow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56B05530-D1D1-5138-C003-9D3A6611C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B3D6DF58-9145-7983-3FB5-FD94D00680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Clr>
                <a:schemeClr val="accent1"/>
              </a:buClr>
              <a:buSzPts val="4400"/>
            </a:pPr>
            <a:r>
              <a:rPr lang="en-US" dirty="0">
                <a:solidFill>
                  <a:schemeClr val="accent1"/>
                </a:solidFill>
              </a:rPr>
              <a:t>Enhancement Type Loads Example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C8815434-6C97-4F95-8ABB-57265619C57B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14D26352-973F-7944-8B4B-449070A2FA4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A0E03EA0-0ACA-EAE8-53AA-78CF3F026E3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Google Shape;179;p36">
                <a:extLst>
                  <a:ext uri="{FF2B5EF4-FFF2-40B4-BE49-F238E27FC236}">
                    <a16:creationId xmlns:a16="http://schemas.microsoft.com/office/drawing/2014/main" id="{A87B690F-7F79-5D7D-D158-E21A9911BCF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79127" y="1041384"/>
                <a:ext cx="8212509" cy="52429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429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1pPr>
                <a:lvl2pPr marL="914400" marR="0" lvl="1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4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2pPr>
                <a:lvl3pPr marL="1371600" marR="0" lvl="2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3pPr>
                <a:lvl4pPr marL="1828800" marR="0" lvl="3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4pPr>
                <a:lvl5pPr marL="2286000" marR="0" lvl="4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5pPr>
                <a:lvl6pPr marL="2743200" marR="0" lvl="5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6pPr>
                <a:lvl7pPr marL="3200400" marR="0" lvl="6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7pPr>
                <a:lvl8pPr marL="3657600" marR="0" lvl="7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8pPr>
                <a:lvl9pPr marL="4114800" marR="0" lvl="8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9pPr>
              </a:lstStyle>
              <a:p>
                <a:pPr marL="114300" indent="0">
                  <a:buSzPct val="75630"/>
                  <a:buFont typeface="Arial"/>
                  <a:buNone/>
                </a:pPr>
                <a:r>
                  <a:rPr lang="en-US" sz="2400" dirty="0">
                    <a:solidFill>
                      <a:schemeClr val="tx1"/>
                    </a:solidFill>
                  </a:rPr>
                  <a:t>Case (1,1):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are both in triode.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can be assumed in the saturation. </a:t>
                </a:r>
              </a:p>
              <a:p>
                <a:pPr marL="114300" lvl="0" indent="0">
                  <a:buSzPct val="75630"/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⇒ 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𝐷𝐴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𝐷𝐵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𝐷𝐿</m:t>
                        </m:r>
                      </m:sub>
                    </m:sSub>
                  </m:oMath>
                </a14:m>
                <a:r>
                  <a:rPr lang="en-US" sz="2400" b="0" dirty="0">
                    <a:solidFill>
                      <a:schemeClr val="tx1"/>
                    </a:solidFill>
                  </a:rPr>
                  <a:t> </a:t>
                </a:r>
              </a:p>
              <a:p>
                <a:pPr marL="114300" lvl="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⇒2∗0.1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∗1[</m:t>
                      </m:r>
                      <m:d>
                        <m:dPr>
                          <m:endChr m:val="]"/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d>
                            <m:d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d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sub>
                          </m:s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sub>
                            <m:sup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=0.1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∗4</m:t>
                      </m:r>
                      <m:sSup>
                        <m:sSup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0−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−0.6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=9.12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,0. 078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V</m:t>
                      </m:r>
                    </m:oMath>
                  </m:oMathPara>
                </a14:m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:r>
                  <a:rPr lang="en-US" sz="2400" dirty="0">
                    <a:solidFill>
                      <a:schemeClr val="tx1"/>
                    </a:solidFill>
                  </a:rPr>
                  <a:t>Acceptable,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=0.078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𝑁𝑜𝑤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𝐷𝐿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=0.1∗4</m:t>
                      </m:r>
                      <m:sSup>
                        <m:sSup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0−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−0.6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=0.144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𝑚𝐴</m:t>
                      </m:r>
                    </m:oMath>
                  </m:oMathPara>
                </a14:m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𝐷𝐴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𝐷𝐵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𝐷𝐿</m:t>
                              </m:r>
                            </m:sub>
                          </m:sSub>
                        </m:num>
                        <m:den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=.072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𝑚𝐴</m:t>
                      </m:r>
                    </m:oMath>
                  </m:oMathPara>
                </a14:m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indent="0">
                  <a:buSzPct val="75630"/>
                  <a:buFont typeface="Arial"/>
                  <a:buNone/>
                </a:pPr>
                <a:endParaRPr lang="en-US" sz="2400" dirty="0">
                  <a:solidFill>
                    <a:schemeClr val="tx1"/>
                  </a:solidFill>
                </a:endParaRPr>
              </a:p>
              <a:p>
                <a:pPr marL="114300" indent="0">
                  <a:buSzPct val="75630"/>
                  <a:buFont typeface="Arial"/>
                  <a:buNone/>
                </a:pPr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Google Shape;179;p36">
                <a:extLst>
                  <a:ext uri="{FF2B5EF4-FFF2-40B4-BE49-F238E27FC236}">
                    <a16:creationId xmlns:a16="http://schemas.microsoft.com/office/drawing/2014/main" id="{A87B690F-7F79-5D7D-D158-E21A9911BC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127" y="1041384"/>
                <a:ext cx="8212509" cy="5242989"/>
              </a:xfrm>
              <a:prstGeom prst="rect">
                <a:avLst/>
              </a:prstGeom>
              <a:blipFill>
                <a:blip r:embed="rId4"/>
                <a:stretch>
                  <a:fillRect r="-81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71CD6B23-51A1-3DC0-0D67-585074B06D4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5305" r="31480"/>
          <a:stretch/>
        </p:blipFill>
        <p:spPr>
          <a:xfrm>
            <a:off x="9047519" y="1736064"/>
            <a:ext cx="3051810" cy="4066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012644"/>
      </p:ext>
    </p:extLst>
  </p:cSld>
  <p:clrMapOvr>
    <a:masterClrMapping/>
  </p:clrMapOvr>
  <p:transition spd="slow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90FDDCAC-022D-6EDC-D204-617802EB3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FCCA582A-6C58-0A16-047E-C749451A56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CMOS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C0A66ABE-4E3D-CEE1-6FE5-F12921FA7BE7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399EB8C2-F032-3165-9E86-0C6B08F4A7A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68DABFDE-F3C3-50C3-0BDB-094BA4A2449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36">
            <a:extLst>
              <a:ext uri="{FF2B5EF4-FFF2-40B4-BE49-F238E27FC236}">
                <a16:creationId xmlns:a16="http://schemas.microsoft.com/office/drawing/2014/main" id="{756C210E-4A7F-7335-26B2-021FDAE3DE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307" y="1334585"/>
            <a:ext cx="7026133" cy="46032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lvl="0" indent="0">
              <a:buSzPct val="75630"/>
              <a:buNone/>
            </a:pPr>
            <a:r>
              <a:rPr lang="en-US" sz="2400" b="0" dirty="0">
                <a:solidFill>
                  <a:schemeClr val="tx1"/>
                </a:solidFill>
              </a:rPr>
              <a:t>Complementary MOS cir</a:t>
            </a:r>
            <a:r>
              <a:rPr lang="en-US" sz="2400" dirty="0">
                <a:solidFill>
                  <a:schemeClr val="tx1"/>
                </a:solidFill>
              </a:rPr>
              <a:t>cuit design</a:t>
            </a:r>
          </a:p>
          <a:p>
            <a:pPr marL="114300" lvl="0" indent="0">
              <a:buSzPct val="75630"/>
              <a:buNone/>
            </a:pPr>
            <a:r>
              <a:rPr lang="en-US" sz="2400" b="0" dirty="0">
                <a:solidFill>
                  <a:schemeClr val="tx1"/>
                </a:solidFill>
              </a:rPr>
              <a:t>Features,</a:t>
            </a:r>
          </a:p>
          <a:p>
            <a:pPr marL="628650" lvl="0" indent="-514350">
              <a:buSzPct val="75630"/>
              <a:buFont typeface="+mj-lt"/>
              <a:buAutoNum type="romanUcPeriod"/>
            </a:pPr>
            <a:r>
              <a:rPr lang="en-US" sz="2400" b="0" dirty="0">
                <a:solidFill>
                  <a:schemeClr val="tx1"/>
                </a:solidFill>
              </a:rPr>
              <a:t>In CMOS circuit there are two network, one is pull up and other is pul</a:t>
            </a:r>
            <a:r>
              <a:rPr lang="en-US" sz="2400" dirty="0">
                <a:solidFill>
                  <a:schemeClr val="tx1"/>
                </a:solidFill>
              </a:rPr>
              <a:t>l down.</a:t>
            </a:r>
          </a:p>
          <a:p>
            <a:pPr marL="628650" lvl="0" indent="-514350">
              <a:buSzPct val="75630"/>
              <a:buFont typeface="+mj-lt"/>
              <a:buAutoNum type="romanUcPeriod"/>
            </a:pPr>
            <a:r>
              <a:rPr lang="en-US" sz="2400" b="0" dirty="0">
                <a:solidFill>
                  <a:schemeClr val="tx1"/>
                </a:solidFill>
              </a:rPr>
              <a:t>At a time either pull-up or pull-down network is on.</a:t>
            </a:r>
          </a:p>
          <a:p>
            <a:pPr marL="628650" lvl="0" indent="-514350">
              <a:buSzPct val="75630"/>
              <a:buFont typeface="+mj-lt"/>
              <a:buAutoNum type="romanUcPeriod"/>
            </a:pPr>
            <a:r>
              <a:rPr lang="en-US" sz="2400" b="0" dirty="0">
                <a:solidFill>
                  <a:schemeClr val="tx1"/>
                </a:solidFill>
              </a:rPr>
              <a:t>Logic is high when pull up is on.</a:t>
            </a:r>
          </a:p>
          <a:p>
            <a:pPr marL="628650" lvl="0" indent="-514350">
              <a:buSzPct val="75630"/>
              <a:buFont typeface="+mj-lt"/>
              <a:buAutoNum type="romanUcPeriod"/>
            </a:pPr>
            <a:r>
              <a:rPr lang="en-US" sz="2400" dirty="0">
                <a:solidFill>
                  <a:schemeClr val="tx1"/>
                </a:solidFill>
              </a:rPr>
              <a:t>Logic is Low when pull down is on.</a:t>
            </a:r>
          </a:p>
          <a:p>
            <a:pPr marL="628650" lvl="0" indent="-514350">
              <a:buSzPct val="75630"/>
              <a:buFont typeface="+mj-lt"/>
              <a:buAutoNum type="romanUcPeriod"/>
            </a:pPr>
            <a:r>
              <a:rPr lang="en-US" sz="2400" b="0" dirty="0">
                <a:solidFill>
                  <a:schemeClr val="tx1"/>
                </a:solidFill>
              </a:rPr>
              <a:t>Pull down consist of N-MOS, </a:t>
            </a:r>
            <a:r>
              <a:rPr lang="en-US" sz="2400" dirty="0">
                <a:solidFill>
                  <a:schemeClr val="tx1"/>
                </a:solidFill>
              </a:rPr>
              <a:t>Pull up consist of P-MOS.</a:t>
            </a:r>
          </a:p>
          <a:p>
            <a:pPr marL="628650" lvl="0" indent="-514350">
              <a:buSzPct val="75630"/>
              <a:buFont typeface="+mj-lt"/>
              <a:buAutoNum type="romanUcPeriod"/>
            </a:pPr>
            <a:endParaRPr lang="en-US" sz="2400" b="0" dirty="0">
              <a:solidFill>
                <a:schemeClr val="tx1"/>
              </a:solidFill>
            </a:endParaRPr>
          </a:p>
          <a:p>
            <a:pPr marL="114300" lvl="0" indent="0">
              <a:buSzPct val="75630"/>
              <a:buNone/>
            </a:pPr>
            <a:endParaRPr lang="en-US" sz="240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38BB9C3-85D0-8C16-12CE-EC92E7F1D9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951" y="1445342"/>
            <a:ext cx="3741040" cy="4117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170199"/>
      </p:ext>
    </p:extLst>
  </p:cSld>
  <p:clrMapOvr>
    <a:masterClrMapping/>
  </p:clrMapOvr>
  <p:transition spd="slow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355F36B3-A64E-4B3F-7252-74216745F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C7FA43FB-9E49-2FB7-A123-4252AB9AD9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CMOS  Pull Down Network Design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D591D3AA-89FB-8E95-E2B8-541C406AE34E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B61615CA-1F64-DC0E-DC15-2A7542A79BA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9F99EC44-A356-B100-E994-AAFA2407D8F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71CB3FA6-E3BC-C593-8913-11C275CDA0EC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308" y="1334585"/>
                <a:ext cx="7731105" cy="46032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14300" lvl="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  →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𝐴𝑁𝐷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𝑐𝑎𝑛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𝑏𝑒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𝑖𝑚𝑝𝑙𝑒𝑚𝑒𝑛𝑡𝑒𝑑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𝑏𝑦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𝑠𝑒𝑟𝑖𝑒𝑠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𝑡𝑤𝑜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𝑁𝑀𝑂𝑆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 →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𝑂𝑅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𝑐𝑎𝑛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𝑏𝑒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𝑖𝑚𝑝𝑙𝑒𝑚𝑒𝑛𝑡𝑒𝑑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𝑏𝑦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𝑃𝑎𝑟𝑎𝑙𝑙𝑒𝑙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𝑁𝑀𝑂𝑆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𝑙𝑜𝑤𝑒𝑟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𝑝𝑎𝑟𝑡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𝑤𝑖𝑙𝑙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𝑏𝑒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𝑐𝑜𝑛𝑛𝑒𝑐𝑡𝑒𝑑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𝑤𝑖𝑡h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𝐺𝑁𝐷</m:t>
                      </m:r>
                    </m:oMath>
                  </m:oMathPara>
                </a14:m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𝑈𝑝𝑝𝑒𝑟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𝑝𝑎𝑟𝑡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𝑤𝑖𝑙𝑙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𝑏𝑒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𝑐𝑜𝑛𝑛𝑒𝑐𝑡𝑒𝑑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𝑡h𝑒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𝑂𝑢𝑡𝑝𝑢𝑡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:endParaRPr lang="en-US" sz="240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:r>
                  <a:rPr lang="en-US" sz="2400" dirty="0">
                    <a:solidFill>
                      <a:schemeClr val="tx1"/>
                    </a:solidFill>
                  </a:rPr>
                  <a:t>Example: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𝐴𝐵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</m:oMath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71CB3FA6-E3BC-C593-8913-11C275CDA0EC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8" y="1334585"/>
                <a:ext cx="7731105" cy="460322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C5069062-5BF8-9054-637E-1E60E3EB60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6413" y="1799840"/>
            <a:ext cx="3625581" cy="3726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628148"/>
      </p:ext>
    </p:extLst>
  </p:cSld>
  <p:clrMapOvr>
    <a:masterClrMapping/>
  </p:clrMapOvr>
  <p:transition spd="slow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A524B72B-48C8-B2B8-2246-C16B7C71F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4F048539-509D-BCAF-9757-C4C0150CBB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CMOS  Pull Up Network Design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87998BEC-BF4D-B1C6-ECE6-F32CA8BDEAB2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0A0859CD-79BD-1079-2F93-FA1C296A864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231892A2-F15B-C210-3218-E67BFAC452B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BFB7ACEA-8C77-77A1-2131-633DEDAAB807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559455" y="1317936"/>
                <a:ext cx="8399699" cy="46032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 fontScale="92500"/>
              </a:bodyPr>
              <a:lstStyle/>
              <a:p>
                <a:pPr marL="114300" lvl="0" indent="0" algn="ctr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  →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𝐴𝑁𝐷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𝑐𝑎𝑛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𝑏𝑒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𝑖𝑚𝑝𝑙𝑒𝑚𝑒𝑛𝑡𝑒𝑑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𝑏𝑦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𝑝𝑎𝑟𝑎𝑙𝑙𝑒𝑙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𝑡𝑤𝑜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𝑃𝑀𝑂𝑆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pPr marL="114300" lvl="0" indent="0" algn="ctr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 →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𝑂𝑅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𝑐𝑎𝑛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𝑏𝑒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𝑖𝑚𝑝𝑙𝑒𝑚𝑒𝑛𝑡𝑒𝑑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𝑏𝑦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𝑃𝑎𝑟𝑎𝑙𝑙𝑒𝑙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𝑁𝑀𝑠𝑒𝑟𝑖𝑒𝑠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𝑡𝑤𝑜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𝑁𝑀𝑂𝑆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pPr marL="114300" lvl="0" indent="0" algn="ctr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𝐿𝑜𝑤𝑒𝑟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𝑝𝑎𝑟𝑡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𝑤𝑖𝑙𝑙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𝑏𝑒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𝑐𝑜𝑛𝑛𝑒𝑐𝑡𝑒𝑑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𝑡h𝑒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𝑂𝑢𝑡𝑝𝑢𝑡</m:t>
                      </m:r>
                    </m:oMath>
                  </m:oMathPara>
                </a14:m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 algn="ctr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𝑈𝑝𝑝𝑒𝑟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𝑝𝑎𝑟𝑡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𝑤𝑖𝑙𝑙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𝑏𝑒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𝑐𝑜𝑛𝑛𝑒𝑐𝑡𝑒𝑑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𝑤𝑖𝑡h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𝐷𝐷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pPr marL="114300" marR="0" lvl="0" indent="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000000"/>
                  </a:buClr>
                  <a:buSzPct val="75630"/>
                  <a:buFont typeface="Arial"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Calibri"/>
                    <a:cs typeface="Calibri"/>
                    <a:sym typeface="Calibri"/>
                  </a:rPr>
                  <a:t>Example: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0" lang="en-US" sz="24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sym typeface="Calibri"/>
                      </a:rPr>
                      <m:t>Y</m:t>
                    </m:r>
                    <m:r>
                      <a:rPr kumimoji="0" lang="en-US" sz="24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sym typeface="Calibri"/>
                      </a:rPr>
                      <m:t>=</m:t>
                    </m:r>
                    <m:acc>
                      <m:accPr>
                        <m:chr m:val="̅"/>
                        <m:ctrlPr>
                          <a:rPr kumimoji="0" lang="en-US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sym typeface="Calibri"/>
                          </a:rPr>
                        </m:ctrlPr>
                      </m:accPr>
                      <m:e>
                        <m:r>
                          <a:rPr kumimoji="0" lang="en-US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sym typeface="Calibri"/>
                          </a:rPr>
                          <m:t>𝐴𝐵</m:t>
                        </m:r>
                        <m:r>
                          <a:rPr kumimoji="0" lang="en-US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sym typeface="Calibri"/>
                          </a:rPr>
                          <m:t>+</m:t>
                        </m:r>
                        <m:r>
                          <a:rPr kumimoji="0" lang="en-US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sym typeface="Calibri"/>
                          </a:rPr>
                          <m:t>𝐶</m:t>
                        </m:r>
                      </m:e>
                    </m:acc>
                  </m:oMath>
                </a14:m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114300" lvl="0" indent="0" algn="ctr">
                  <a:buSzPct val="75630"/>
                  <a:buNone/>
                </a:pPr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BFB7ACEA-8C77-77A1-2131-633DEDAAB807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59455" y="1317936"/>
                <a:ext cx="8399699" cy="460322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D9D199BF-881F-578A-9591-E8AF2F06DD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2734" y="2004329"/>
            <a:ext cx="3372321" cy="4134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996225"/>
      </p:ext>
    </p:extLst>
  </p:cSld>
  <p:clrMapOvr>
    <a:masterClrMapping/>
  </p:clrMapOvr>
  <p:transition spd="slow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23E67562-1A4B-8637-D1FF-A79EB11D4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B1F8AACF-2C23-517B-54F3-E427207219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NOT Gate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A202E0A5-9751-0595-3A8B-17DEC886F060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104628B9-6963-24C0-3D08-F5FAF1C252B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37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D7BAFA50-E7B2-99D1-CBD7-2919F062D0C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BF8A9500-1EE9-BC63-5C1D-304519957705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307" y="1334585"/>
                <a:ext cx="7026133" cy="46032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14300" lvl="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 </m:t>
                      </m:r>
                      <m:acc>
                        <m:accPr>
                          <m:chr m:val="̅"/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</m:oMath>
                  </m:oMathPara>
                </a14:m>
                <a:endParaRPr lang="en-US" sz="2400" b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BF8A9500-1EE9-BC63-5C1D-304519957705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7" y="1334585"/>
                <a:ext cx="7026133" cy="4603227"/>
              </a:xfrm>
              <a:prstGeom prst="rect">
                <a:avLst/>
              </a:prstGeom>
              <a:blipFill>
                <a:blip r:embed="rId4"/>
                <a:stretch>
                  <a:fillRect t="-13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13ECB728-4D06-27C7-193D-7FFD7B0E46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2939" y="1334585"/>
            <a:ext cx="3149229" cy="4346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6906031"/>
      </p:ext>
    </p:extLst>
  </p:cSld>
  <p:clrMapOvr>
    <a:masterClrMapping/>
  </p:clrMapOvr>
  <p:transition spd="slow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D0F3C11B-606B-3B98-77AD-970A02D65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597E7A54-D254-1AC8-6F9F-9C9B577D76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NAND Gate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8970A6B8-210A-E2FB-82CA-CC2697351C51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351449A3-B46D-1F75-DFB1-84F153D0984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38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9A31E6A5-6040-A30A-4E21-AC1245E6F53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EADEABDA-F506-8EBE-C624-21FF32534BDC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307" y="1334585"/>
                <a:ext cx="7026133" cy="46032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14300" lvl="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 </m:t>
                      </m:r>
                      <m:acc>
                        <m:accPr>
                          <m:chr m:val="̅"/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𝐴𝐵</m:t>
                          </m:r>
                        </m:e>
                      </m:acc>
                    </m:oMath>
                  </m:oMathPara>
                </a14:m>
                <a:endParaRPr lang="en-US" sz="2400" b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EADEABDA-F506-8EBE-C624-21FF32534BDC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7" y="1334585"/>
                <a:ext cx="7026133" cy="460322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FC42B4B4-3CCF-DE55-3BFF-7BE95E99E6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1440" y="405418"/>
            <a:ext cx="2943636" cy="551574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8300D9B-0D14-4EFC-1DCB-F45BCD4FC8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11922" y="2425460"/>
            <a:ext cx="5572903" cy="2715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907289"/>
      </p:ext>
    </p:extLst>
  </p:cSld>
  <p:clrMapOvr>
    <a:masterClrMapping/>
  </p:clrMapOvr>
  <p:transition spd="slow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2F3BB33E-116F-487F-7082-5056EB403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B06E43EF-C89D-3DF6-4D48-6A8F667BE1A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NOR Gate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DA87EECA-BCFF-919F-83CA-6643F4259F9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7307076F-F83D-600B-887B-3977F5D5C3D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39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B9C89D5A-A7C4-BC0E-AA65-75E31601877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9B01374F-BCF9-E1AA-614F-B39D8B9AF9DD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307" y="1334585"/>
                <a:ext cx="7026133" cy="46032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14300" lvl="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 </m:t>
                      </m:r>
                      <m:acc>
                        <m:accPr>
                          <m:chr m:val="̅"/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</m:oMath>
                  </m:oMathPara>
                </a14:m>
                <a:endParaRPr lang="en-US" sz="2400" b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9B01374F-BCF9-E1AA-614F-B39D8B9AF9DD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7" y="1334585"/>
                <a:ext cx="7026133" cy="460322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312C4101-EA68-3F11-A4CB-D70DA1D79F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31339" y="621028"/>
            <a:ext cx="3753374" cy="586821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A7D39BA-9D2A-1063-6B42-86AB8F1828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17487" y="2622890"/>
            <a:ext cx="5087060" cy="245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240281"/>
      </p:ext>
    </p:extLst>
  </p:cSld>
  <p:clrMapOvr>
    <a:masterClrMapping/>
  </p:clrMapOvr>
  <p:transition spd="slow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1C5AC28F-CC23-8EA2-A7F9-3C91C0475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76E624B0-A0B0-0AC8-4C6F-B378951A282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Example: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CC5DD1D8-7D94-FC72-730F-D0FA9BD8C328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54353385-48BA-B765-3C2E-AEF6C36E605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40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75BEC046-E448-71A3-B873-5199BC3057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307C7E4E-F734-902D-0498-2B02AE771650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307" y="1334585"/>
                <a:ext cx="7026133" cy="46032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14300" lvl="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𝐴𝐵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acc>
                    </m:oMath>
                  </m:oMathPara>
                </a14:m>
                <a:endParaRPr lang="en-US" sz="2400" b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307C7E4E-F734-902D-0498-2B02AE771650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7" y="1334585"/>
                <a:ext cx="7026133" cy="460322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CE241C23-3026-2AEA-E44D-A37508DD72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58930" y="969408"/>
            <a:ext cx="7026133" cy="3711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435300"/>
      </p:ext>
    </p:extLst>
  </p:cSld>
  <p:clrMapOvr>
    <a:masterClrMapping/>
  </p:clrMapOvr>
  <p:transition spd="slow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9B356FAC-1F31-A4FC-98CD-00560C289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1F5E7E8A-8E94-B843-3AA8-DD0693CCB7D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Example: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B01B4E56-6ACB-B550-6646-18D1C2B1FAEC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17375AED-9715-9D70-890E-35C75AE3606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41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71AA1FF9-1405-B887-6FCA-BAF65F60F24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EA6CC18B-5760-0505-A074-5E937C5C572D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307" y="1334585"/>
                <a:ext cx="7026133" cy="46032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14300" lvl="0" indent="0">
                  <a:buSzPct val="75630"/>
                  <a:buNone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</m:oMath>
                </a14:m>
                <a:r>
                  <a:rPr lang="en-US" sz="2400" b="0" dirty="0">
                    <a:solidFill>
                      <a:schemeClr val="tx1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EA6CC18B-5760-0505-A074-5E937C5C572D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7" y="1334585"/>
                <a:ext cx="7026133" cy="460322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374184A9-D5B0-319D-2D58-33D5D81EE7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8373" y="1550662"/>
            <a:ext cx="7755253" cy="4087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659010"/>
      </p:ext>
    </p:extLst>
  </p:cSld>
  <p:clrMapOvr>
    <a:masterClrMapping/>
  </p:clrMapOvr>
  <p:transition spd="slow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95484115-871E-332D-40E5-3AF03C7FA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50FADE34-908E-EBC4-E1F8-B26C62D76CE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Example: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0991DA9D-6DF5-C00E-9B22-7568167CFB6C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F06AA369-E191-3CCC-9378-944CA9157F6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42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01D2C8BA-A246-3CF8-77F4-AA9F7940235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417BB8F6-831D-F844-0571-F35F005D9B66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307" y="1334585"/>
                <a:ext cx="7026133" cy="46032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14300" lvl="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)+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𝐷𝐸</m:t>
                          </m:r>
                        </m:e>
                      </m:acc>
                    </m:oMath>
                  </m:oMathPara>
                </a14:m>
                <a:endParaRPr lang="en-US" sz="2400" b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417BB8F6-831D-F844-0571-F35F005D9B66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7" y="1334585"/>
                <a:ext cx="7026133" cy="460322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BA0AFF83-5714-8E12-3572-1C82DF4DAD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4464" y="517873"/>
            <a:ext cx="6887536" cy="4544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555541"/>
      </p:ext>
    </p:extLst>
  </p:cSld>
  <p:clrMapOvr>
    <a:masterClrMapping/>
  </p:clrMapOvr>
  <p:transition spd="slow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98B127DE-8815-A245-B05C-12BA87424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5F4B852C-B92E-BAE0-EF30-7DF8974269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Exercise: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9CA2259C-96BC-A2FF-BBE0-9A6EF61F6130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92A9572A-919D-1C32-0AA1-903B5FC69A4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43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CF870F00-898B-9A46-F7B1-8D44935DB8A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36">
            <a:extLst>
              <a:ext uri="{FF2B5EF4-FFF2-40B4-BE49-F238E27FC236}">
                <a16:creationId xmlns:a16="http://schemas.microsoft.com/office/drawing/2014/main" id="{DA4C8BE8-B618-1F25-3D0B-E8B86D9177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307" y="1334585"/>
            <a:ext cx="7026133" cy="46032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lvl="0" indent="0">
              <a:buSzPct val="75630"/>
              <a:buNone/>
            </a:pPr>
            <a:r>
              <a:rPr lang="en-US" sz="2400" b="0" dirty="0">
                <a:solidFill>
                  <a:schemeClr val="tx1"/>
                </a:solidFill>
              </a:rPr>
              <a:t>Design a CMOS logic circuit to implement the given compound gate in Figure below. First derive</a:t>
            </a:r>
          </a:p>
          <a:p>
            <a:pPr marL="114300" lvl="0" indent="0">
              <a:buSzPct val="75630"/>
              <a:buNone/>
            </a:pPr>
            <a:r>
              <a:rPr lang="en-US" sz="2400" b="0" dirty="0">
                <a:solidFill>
                  <a:schemeClr val="tx1"/>
                </a:solidFill>
              </a:rPr>
              <a:t>the logical expression of output Y and then design the CMOS network.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F345A75-8CB2-9E67-A82C-5A41C68A33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9545" y="3138340"/>
            <a:ext cx="6182588" cy="3077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164337"/>
      </p:ext>
    </p:extLst>
  </p:cSld>
  <p:clrMapOvr>
    <a:masterClrMapping/>
  </p:clrMapOvr>
  <p:transition spd="slow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229B0B22-B826-83E9-967A-CB19159FF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E6DEB8E5-6DA5-9041-12E2-19D848982C8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Exercise: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5B244AC5-8411-FD14-197C-737F29158834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9DF32B20-815B-48C9-6D08-0F602EF10C1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44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1B8A3C84-82D2-4F62-9DCF-1F0FDF6E7C0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36">
            <a:extLst>
              <a:ext uri="{FF2B5EF4-FFF2-40B4-BE49-F238E27FC236}">
                <a16:creationId xmlns:a16="http://schemas.microsoft.com/office/drawing/2014/main" id="{D33B272D-DB44-B030-9387-392765C1D2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307" y="1334585"/>
            <a:ext cx="7026133" cy="46032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lvl="0" indent="0">
              <a:buSzPct val="75630"/>
              <a:buNone/>
            </a:pPr>
            <a:r>
              <a:rPr lang="en-US" sz="2400" b="0" dirty="0">
                <a:solidFill>
                  <a:schemeClr val="tx1"/>
                </a:solidFill>
              </a:rPr>
              <a:t>Design a CMOS circuit that will </a:t>
            </a:r>
            <a:r>
              <a:rPr lang="en-US" sz="2400" dirty="0">
                <a:solidFill>
                  <a:schemeClr val="tx1"/>
                </a:solidFill>
              </a:rPr>
              <a:t>follow</a:t>
            </a:r>
            <a:r>
              <a:rPr lang="en-US" sz="2400" b="0" dirty="0">
                <a:solidFill>
                  <a:schemeClr val="tx1"/>
                </a:solidFill>
              </a:rPr>
              <a:t> the given truth table.</a:t>
            </a:r>
          </a:p>
          <a:p>
            <a:pPr marL="114300" lvl="0" indent="0">
              <a:buSzPct val="75630"/>
              <a:buNone/>
            </a:pPr>
            <a:endParaRPr lang="en-US" sz="2400" b="0" dirty="0">
              <a:solidFill>
                <a:schemeClr val="tx1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1EFF834-ADFB-622B-F388-E448BCD371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9027061"/>
              </p:ext>
            </p:extLst>
          </p:nvPr>
        </p:nvGraphicFramePr>
        <p:xfrm>
          <a:off x="1096668" y="2330271"/>
          <a:ext cx="4513719" cy="307335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504573">
                  <a:extLst>
                    <a:ext uri="{9D8B030D-6E8A-4147-A177-3AD203B41FA5}">
                      <a16:colId xmlns:a16="http://schemas.microsoft.com/office/drawing/2014/main" val="297572426"/>
                    </a:ext>
                  </a:extLst>
                </a:gridCol>
                <a:gridCol w="1504573">
                  <a:extLst>
                    <a:ext uri="{9D8B030D-6E8A-4147-A177-3AD203B41FA5}">
                      <a16:colId xmlns:a16="http://schemas.microsoft.com/office/drawing/2014/main" val="1535309190"/>
                    </a:ext>
                  </a:extLst>
                </a:gridCol>
                <a:gridCol w="1504573">
                  <a:extLst>
                    <a:ext uri="{9D8B030D-6E8A-4147-A177-3AD203B41FA5}">
                      <a16:colId xmlns:a16="http://schemas.microsoft.com/office/drawing/2014/main" val="2269225613"/>
                    </a:ext>
                  </a:extLst>
                </a:gridCol>
              </a:tblGrid>
              <a:tr h="614670">
                <a:tc>
                  <a:txBody>
                    <a:bodyPr/>
                    <a:lstStyle/>
                    <a:p>
                      <a:r>
                        <a:rPr lang="en-US" sz="24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3626658"/>
                  </a:ext>
                </a:extLst>
              </a:tr>
              <a:tr h="614670"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9869286"/>
                  </a:ext>
                </a:extLst>
              </a:tr>
              <a:tr h="614670"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8064110"/>
                  </a:ext>
                </a:extLst>
              </a:tr>
              <a:tr h="614670"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9220087"/>
                  </a:ext>
                </a:extLst>
              </a:tr>
              <a:tr h="614670"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6999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3891573"/>
      </p:ext>
    </p:extLst>
  </p:cSld>
  <p:clrMapOvr>
    <a:masterClrMapping/>
  </p:clrMapOvr>
  <p:transition spd="slow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20DAED28-BAC9-016B-7045-A8F65E019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D58BC5FD-8189-5A3D-2AA1-214A25D568C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Exercise: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B400B364-24AD-0B1C-2234-469362D6057C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88BAD516-EA4D-670E-159D-F72A4FC2BC4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45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BD859E1C-4F81-C2AA-EB1D-A767DE021D4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36">
            <a:extLst>
              <a:ext uri="{FF2B5EF4-FFF2-40B4-BE49-F238E27FC236}">
                <a16:creationId xmlns:a16="http://schemas.microsoft.com/office/drawing/2014/main" id="{0A719C8C-45A9-0AE4-1BCF-3B212F9A37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307" y="1334585"/>
            <a:ext cx="7026133" cy="46032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lvl="0" indent="0">
              <a:buSzPct val="75630"/>
              <a:buNone/>
            </a:pPr>
            <a:r>
              <a:rPr lang="en-US" sz="2400" b="0" dirty="0">
                <a:solidFill>
                  <a:schemeClr val="tx1"/>
                </a:solidFill>
              </a:rPr>
              <a:t>Design static CMOS circuit for the following expression,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4036437-F7DE-B030-5380-10C958821D0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78"/>
          <a:stretch/>
        </p:blipFill>
        <p:spPr>
          <a:xfrm>
            <a:off x="7711440" y="1241187"/>
            <a:ext cx="4027534" cy="4603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567382"/>
      </p:ext>
    </p:extLst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922</TotalTime>
  <Words>2152</Words>
  <Application>Microsoft Office PowerPoint</Application>
  <PresentationFormat>Widescreen</PresentationFormat>
  <Paragraphs>368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1" baseType="lpstr">
      <vt:lpstr>Arial</vt:lpstr>
      <vt:lpstr>Calibri</vt:lpstr>
      <vt:lpstr>Cambria Math</vt:lpstr>
      <vt:lpstr>Times New Roman</vt:lpstr>
      <vt:lpstr>Wingdings</vt:lpstr>
      <vt:lpstr>Office Theme</vt:lpstr>
      <vt:lpstr>CSE 350 Digital Electronics and Pulse Techniques </vt:lpstr>
      <vt:lpstr>MOS Logic family</vt:lpstr>
      <vt:lpstr>Basic Internal Structure</vt:lpstr>
      <vt:lpstr>Circuit Symbol</vt:lpstr>
      <vt:lpstr>Basic Operation</vt:lpstr>
      <vt:lpstr>Basic Operation</vt:lpstr>
      <vt:lpstr>Basic Operation</vt:lpstr>
      <vt:lpstr>Operating modes of MOSFET</vt:lpstr>
      <vt:lpstr>N-MOS Logic</vt:lpstr>
      <vt:lpstr>N-MOS Logic</vt:lpstr>
      <vt:lpstr>N-MOS NOT gate/Inverter</vt:lpstr>
      <vt:lpstr>N-MOS NOT gate/Inverter</vt:lpstr>
      <vt:lpstr>N-MOS NOT gate/Inverter</vt:lpstr>
      <vt:lpstr>N-MOS NOT gate/Inverter</vt:lpstr>
      <vt:lpstr>N-MOS NOT gate/Inverter</vt:lpstr>
      <vt:lpstr>N-MOS NOT gate/Inverter</vt:lpstr>
      <vt:lpstr>N-MOS NOT gate/Inverter</vt:lpstr>
      <vt:lpstr>N-MOS NOT gate/Inverter</vt:lpstr>
      <vt:lpstr>N-MOS NOR gate</vt:lpstr>
      <vt:lpstr>N-MOS NOR gate</vt:lpstr>
      <vt:lpstr>N-MOS NOR gate</vt:lpstr>
      <vt:lpstr>N-MOS NOR gate</vt:lpstr>
      <vt:lpstr>N-MOS NOR gate</vt:lpstr>
      <vt:lpstr>Exercise:</vt:lpstr>
      <vt:lpstr>Exercise:</vt:lpstr>
      <vt:lpstr>Enhancement &amp; Depletion Type Loads</vt:lpstr>
      <vt:lpstr>Enhancement &amp; Depletion Type Loads</vt:lpstr>
      <vt:lpstr>Enhancement Type Loads Example</vt:lpstr>
      <vt:lpstr>Enhancement Type Loads Example</vt:lpstr>
      <vt:lpstr>Enhancement Type Loads Example</vt:lpstr>
      <vt:lpstr>Depletion type Type Loads Example</vt:lpstr>
      <vt:lpstr>Depletion type Type Loads Example</vt:lpstr>
      <vt:lpstr>Enhancement Type Loads Example</vt:lpstr>
      <vt:lpstr>CMOS</vt:lpstr>
      <vt:lpstr>CMOS  Pull Down Network Design</vt:lpstr>
      <vt:lpstr>CMOS  Pull Up Network Design</vt:lpstr>
      <vt:lpstr>NOT Gate</vt:lpstr>
      <vt:lpstr>NAND Gate</vt:lpstr>
      <vt:lpstr>NOR Gate</vt:lpstr>
      <vt:lpstr>Example:</vt:lpstr>
      <vt:lpstr>Example:</vt:lpstr>
      <vt:lpstr>Example:</vt:lpstr>
      <vt:lpstr>Exercise:</vt:lpstr>
      <vt:lpstr>Exercise:</vt:lpstr>
      <vt:lpstr>Exercise: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350 Digital Electronics and Pulse Techniques </dc:title>
  <dc:creator>nazmul turjo</dc:creator>
  <cp:lastModifiedBy>USER</cp:lastModifiedBy>
  <cp:revision>20</cp:revision>
  <dcterms:created xsi:type="dcterms:W3CDTF">2021-07-10T07:14:46Z</dcterms:created>
  <dcterms:modified xsi:type="dcterms:W3CDTF">2025-09-03T18:34:42Z</dcterms:modified>
</cp:coreProperties>
</file>